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p:scale>
          <a:sx n="66" d="100"/>
          <a:sy n="66" d="100"/>
        </p:scale>
        <p:origin x="269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30T00:39:03.945"/>
    </inkml:context>
    <inkml:brush xml:id="br0">
      <inkml:brushProperty name="width" value="0.035" units="cm"/>
      <inkml:brushProperty name="height" value="0.035" units="cm"/>
    </inkml:brush>
  </inkml:definitions>
  <inkml:trace contextRef="#ctx0" brushRef="#br0">1 1 24575,'4'0'0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C00959AC-0816-48E3-9E27-C0F9F11C1303}" type="datetimeFigureOut">
              <a:rPr lang="es-EC" smtClean="0"/>
              <a:t>29/3/2025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2749004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00959AC-0816-48E3-9E27-C0F9F11C1303}" type="datetimeFigureOut">
              <a:rPr lang="es-EC" smtClean="0"/>
              <a:t>29/3/2025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940598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C00959AC-0816-48E3-9E27-C0F9F11C1303}" type="datetimeFigureOut">
              <a:rPr lang="es-EC" smtClean="0"/>
              <a:t>29/3/2025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4234726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00959AC-0816-48E3-9E27-C0F9F11C1303}" type="datetimeFigureOut">
              <a:rPr lang="es-EC" smtClean="0"/>
              <a:t>29/3/2025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1940504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MX"/>
              <a:t>Haga clic para modificar los estilos de texto del patrón</a:t>
            </a:r>
          </a:p>
        </p:txBody>
      </p:sp>
      <p:sp>
        <p:nvSpPr>
          <p:cNvPr id="4" name="Content Placeholder 3"/>
          <p:cNvSpPr>
            <a:spLocks noGrp="1"/>
          </p:cNvSpPr>
          <p:nvPr>
            <p:ph sz="half" idx="2"/>
          </p:nvPr>
        </p:nvSpPr>
        <p:spPr>
          <a:xfrm>
            <a:off x="472381" y="4453467"/>
            <a:ext cx="2901255" cy="655037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MX"/>
              <a:t>Haga clic para modificar los estilos de texto del patrón</a:t>
            </a:r>
          </a:p>
        </p:txBody>
      </p:sp>
      <p:sp>
        <p:nvSpPr>
          <p:cNvPr id="6" name="Content Placeholder 5"/>
          <p:cNvSpPr>
            <a:spLocks noGrp="1"/>
          </p:cNvSpPr>
          <p:nvPr>
            <p:ph sz="quarter" idx="4"/>
          </p:nvPr>
        </p:nvSpPr>
        <p:spPr>
          <a:xfrm>
            <a:off x="3471863" y="4453467"/>
            <a:ext cx="2915543" cy="655037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C00959AC-0816-48E3-9E27-C0F9F11C1303}" type="datetimeFigureOut">
              <a:rPr lang="es-EC" smtClean="0"/>
              <a:t>29/3/2025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2020131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C00959AC-0816-48E3-9E27-C0F9F11C1303}" type="datetimeFigureOut">
              <a:rPr lang="es-EC" smtClean="0"/>
              <a:t>29/3/2025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3414433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0959AC-0816-48E3-9E27-C0F9F11C1303}" type="datetimeFigureOut">
              <a:rPr lang="es-EC" smtClean="0"/>
              <a:t>29/3/2025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4274182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s-MX"/>
              <a:t>Haz clic para modificar el estilo de título del patrón</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C00959AC-0816-48E3-9E27-C0F9F11C1303}" type="datetimeFigureOut">
              <a:rPr lang="es-EC" smtClean="0"/>
              <a:t>29/3/2025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1239523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C00959AC-0816-48E3-9E27-C0F9F11C1303}" type="datetimeFigureOut">
              <a:rPr lang="es-EC" smtClean="0"/>
              <a:t>29/3/2025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1008661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00959AC-0816-48E3-9E27-C0F9F11C1303}" type="datetimeFigureOut">
              <a:rPr lang="es-EC" smtClean="0"/>
              <a:t>29/3/2025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168878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00959AC-0816-48E3-9E27-C0F9F11C1303}" type="datetimeFigureOut">
              <a:rPr lang="es-EC" smtClean="0"/>
              <a:t>29/3/2025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8CF45CD-7BCB-4F39-9BB9-04D2C893DFF1}" type="slidenum">
              <a:rPr lang="es-EC" smtClean="0"/>
              <a:t>‹Nº›</a:t>
            </a:fld>
            <a:endParaRPr lang="es-EC"/>
          </a:p>
        </p:txBody>
      </p:sp>
    </p:spTree>
    <p:extLst>
      <p:ext uri="{BB962C8B-B14F-4D97-AF65-F5344CB8AC3E}">
        <p14:creationId xmlns:p14="http://schemas.microsoft.com/office/powerpoint/2010/main" val="1898604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82000"/>
                  </a:schemeClr>
                </a:solidFill>
              </a:defRPr>
            </a:lvl1pPr>
          </a:lstStyle>
          <a:p>
            <a:fld id="{C00959AC-0816-48E3-9E27-C0F9F11C1303}" type="datetimeFigureOut">
              <a:rPr lang="es-EC" smtClean="0"/>
              <a:t>29/3/2025</a:t>
            </a:fld>
            <a:endParaRPr lang="es-EC"/>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s-EC"/>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82000"/>
                  </a:schemeClr>
                </a:solidFill>
              </a:defRPr>
            </a:lvl1pPr>
          </a:lstStyle>
          <a:p>
            <a:fld id="{18CF45CD-7BCB-4F39-9BB9-04D2C893DFF1}" type="slidenum">
              <a:rPr lang="es-EC" smtClean="0"/>
              <a:t>‹Nº›</a:t>
            </a:fld>
            <a:endParaRPr lang="es-EC"/>
          </a:p>
        </p:txBody>
      </p:sp>
    </p:spTree>
    <p:extLst>
      <p:ext uri="{BB962C8B-B14F-4D97-AF65-F5344CB8AC3E}">
        <p14:creationId xmlns:p14="http://schemas.microsoft.com/office/powerpoint/2010/main" val="15288981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ángulo 50">
            <a:extLst>
              <a:ext uri="{FF2B5EF4-FFF2-40B4-BE49-F238E27FC236}">
                <a16:creationId xmlns:a16="http://schemas.microsoft.com/office/drawing/2014/main" id="{D08C02EA-0265-047A-6935-725125A8B4E3}"/>
              </a:ext>
            </a:extLst>
          </p:cNvPr>
          <p:cNvSpPr/>
          <p:nvPr/>
        </p:nvSpPr>
        <p:spPr>
          <a:xfrm>
            <a:off x="-18929" y="-1"/>
            <a:ext cx="6855044" cy="1219200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 name="Rectángulo 3">
            <a:extLst>
              <a:ext uri="{FF2B5EF4-FFF2-40B4-BE49-F238E27FC236}">
                <a16:creationId xmlns:a16="http://schemas.microsoft.com/office/drawing/2014/main" id="{413A3F8E-B47B-1D73-3089-8B4708277FE0}"/>
              </a:ext>
            </a:extLst>
          </p:cNvPr>
          <p:cNvSpPr/>
          <p:nvPr/>
        </p:nvSpPr>
        <p:spPr>
          <a:xfrm>
            <a:off x="412595" y="223024"/>
            <a:ext cx="6077415" cy="4683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TITULO</a:t>
            </a:r>
          </a:p>
        </p:txBody>
      </p:sp>
      <p:sp>
        <p:nvSpPr>
          <p:cNvPr id="5" name="Rectángulo 4">
            <a:extLst>
              <a:ext uri="{FF2B5EF4-FFF2-40B4-BE49-F238E27FC236}">
                <a16:creationId xmlns:a16="http://schemas.microsoft.com/office/drawing/2014/main" id="{C312732C-FD76-D4E6-41FA-F6A6B10A1AAB}"/>
              </a:ext>
            </a:extLst>
          </p:cNvPr>
          <p:cNvSpPr/>
          <p:nvPr/>
        </p:nvSpPr>
        <p:spPr>
          <a:xfrm>
            <a:off x="412596" y="843775"/>
            <a:ext cx="3082444" cy="273762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p:cxnSp>
        <p:nvCxnSpPr>
          <p:cNvPr id="7" name="Conector recto de flecha 6">
            <a:extLst>
              <a:ext uri="{FF2B5EF4-FFF2-40B4-BE49-F238E27FC236}">
                <a16:creationId xmlns:a16="http://schemas.microsoft.com/office/drawing/2014/main" id="{6D9CDF45-7CBF-B204-CD04-97575990224F}"/>
              </a:ext>
            </a:extLst>
          </p:cNvPr>
          <p:cNvCxnSpPr>
            <a:cxnSpLocks/>
          </p:cNvCxnSpPr>
          <p:nvPr/>
        </p:nvCxnSpPr>
        <p:spPr>
          <a:xfrm flipV="1">
            <a:off x="892098" y="1148080"/>
            <a:ext cx="0" cy="22418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Conector recto de flecha 8">
            <a:extLst>
              <a:ext uri="{FF2B5EF4-FFF2-40B4-BE49-F238E27FC236}">
                <a16:creationId xmlns:a16="http://schemas.microsoft.com/office/drawing/2014/main" id="{C7501108-EA23-F740-3855-70DF8FFBFE76}"/>
              </a:ext>
            </a:extLst>
          </p:cNvPr>
          <p:cNvCxnSpPr>
            <a:cxnSpLocks/>
          </p:cNvCxnSpPr>
          <p:nvPr/>
        </p:nvCxnSpPr>
        <p:spPr>
          <a:xfrm>
            <a:off x="703802" y="3203746"/>
            <a:ext cx="2552481"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Rectángulo 9">
            <a:extLst>
              <a:ext uri="{FF2B5EF4-FFF2-40B4-BE49-F238E27FC236}">
                <a16:creationId xmlns:a16="http://schemas.microsoft.com/office/drawing/2014/main" id="{85D5E74D-B710-8D54-BA81-279212A79DE0}"/>
              </a:ext>
            </a:extLst>
          </p:cNvPr>
          <p:cNvSpPr/>
          <p:nvPr/>
        </p:nvSpPr>
        <p:spPr>
          <a:xfrm>
            <a:off x="1021080" y="1234442"/>
            <a:ext cx="553711" cy="19693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EC" dirty="0"/>
              <a:t>Total de alumnos</a:t>
            </a:r>
          </a:p>
        </p:txBody>
      </p:sp>
      <p:sp>
        <p:nvSpPr>
          <p:cNvPr id="11" name="Rectángulo 10">
            <a:extLst>
              <a:ext uri="{FF2B5EF4-FFF2-40B4-BE49-F238E27FC236}">
                <a16:creationId xmlns:a16="http://schemas.microsoft.com/office/drawing/2014/main" id="{8C5D0571-F6B9-19DD-6057-FC0A3A612156}"/>
              </a:ext>
            </a:extLst>
          </p:cNvPr>
          <p:cNvSpPr/>
          <p:nvPr/>
        </p:nvSpPr>
        <p:spPr>
          <a:xfrm>
            <a:off x="1682052" y="2026922"/>
            <a:ext cx="553711" cy="1176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EC" dirty="0"/>
              <a:t>aprobados</a:t>
            </a:r>
          </a:p>
        </p:txBody>
      </p:sp>
      <p:sp>
        <p:nvSpPr>
          <p:cNvPr id="12" name="Rectángulo 11">
            <a:extLst>
              <a:ext uri="{FF2B5EF4-FFF2-40B4-BE49-F238E27FC236}">
                <a16:creationId xmlns:a16="http://schemas.microsoft.com/office/drawing/2014/main" id="{76C49CDC-3FDF-C890-A0DE-D380656B9598}"/>
              </a:ext>
            </a:extLst>
          </p:cNvPr>
          <p:cNvSpPr/>
          <p:nvPr/>
        </p:nvSpPr>
        <p:spPr>
          <a:xfrm>
            <a:off x="2364744" y="1879602"/>
            <a:ext cx="553711" cy="13241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EC" dirty="0"/>
              <a:t>reprobados</a:t>
            </a:r>
          </a:p>
        </p:txBody>
      </p:sp>
      <p:sp>
        <p:nvSpPr>
          <p:cNvPr id="14" name="Rectángulo 13">
            <a:extLst>
              <a:ext uri="{FF2B5EF4-FFF2-40B4-BE49-F238E27FC236}">
                <a16:creationId xmlns:a16="http://schemas.microsoft.com/office/drawing/2014/main" id="{283A3089-47B9-7ECE-E511-94848DF7F4D3}"/>
              </a:ext>
            </a:extLst>
          </p:cNvPr>
          <p:cNvSpPr/>
          <p:nvPr/>
        </p:nvSpPr>
        <p:spPr>
          <a:xfrm>
            <a:off x="3566744" y="843775"/>
            <a:ext cx="2923266" cy="118314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15" name="Rectángulo 14">
            <a:extLst>
              <a:ext uri="{FF2B5EF4-FFF2-40B4-BE49-F238E27FC236}">
                <a16:creationId xmlns:a16="http://schemas.microsoft.com/office/drawing/2014/main" id="{79423F5D-4308-850C-BF7A-F42681B43D8A}"/>
              </a:ext>
            </a:extLst>
          </p:cNvPr>
          <p:cNvSpPr/>
          <p:nvPr/>
        </p:nvSpPr>
        <p:spPr>
          <a:xfrm>
            <a:off x="3672185" y="924560"/>
            <a:ext cx="2712384"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300 alumnos totales</a:t>
            </a:r>
          </a:p>
          <a:p>
            <a:pPr algn="ctr"/>
            <a:r>
              <a:rPr lang="es-EC" dirty="0"/>
              <a:t>100 aprobaron</a:t>
            </a:r>
          </a:p>
          <a:p>
            <a:pPr algn="ctr"/>
            <a:r>
              <a:rPr lang="es-EC" dirty="0"/>
              <a:t>200 reprobaron</a:t>
            </a:r>
          </a:p>
        </p:txBody>
      </p:sp>
      <p:sp>
        <p:nvSpPr>
          <p:cNvPr id="16" name="Rectángulo 15">
            <a:extLst>
              <a:ext uri="{FF2B5EF4-FFF2-40B4-BE49-F238E27FC236}">
                <a16:creationId xmlns:a16="http://schemas.microsoft.com/office/drawing/2014/main" id="{1716C748-8D5F-6C23-9437-5E1D5FF8F712}"/>
              </a:ext>
            </a:extLst>
          </p:cNvPr>
          <p:cNvSpPr/>
          <p:nvPr/>
        </p:nvSpPr>
        <p:spPr>
          <a:xfrm>
            <a:off x="412594" y="3822307"/>
            <a:ext cx="6077415" cy="4683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VAMOS A VER LAS POSIBLES CAUSAS</a:t>
            </a:r>
          </a:p>
        </p:txBody>
      </p:sp>
      <p:sp>
        <p:nvSpPr>
          <p:cNvPr id="17" name="Rectángulo 16">
            <a:extLst>
              <a:ext uri="{FF2B5EF4-FFF2-40B4-BE49-F238E27FC236}">
                <a16:creationId xmlns:a16="http://schemas.microsoft.com/office/drawing/2014/main" id="{4D02E74E-4321-8544-0CCE-71241C7CAEDF}"/>
              </a:ext>
            </a:extLst>
          </p:cNvPr>
          <p:cNvSpPr/>
          <p:nvPr/>
        </p:nvSpPr>
        <p:spPr>
          <a:xfrm>
            <a:off x="412594" y="4383051"/>
            <a:ext cx="6077415" cy="4683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TIEMPO</a:t>
            </a:r>
          </a:p>
        </p:txBody>
      </p:sp>
      <p:sp>
        <p:nvSpPr>
          <p:cNvPr id="18" name="Rectángulo 17">
            <a:extLst>
              <a:ext uri="{FF2B5EF4-FFF2-40B4-BE49-F238E27FC236}">
                <a16:creationId xmlns:a16="http://schemas.microsoft.com/office/drawing/2014/main" id="{193CE9E2-20E6-02DF-4683-981A0D63A51F}"/>
              </a:ext>
            </a:extLst>
          </p:cNvPr>
          <p:cNvSpPr/>
          <p:nvPr/>
        </p:nvSpPr>
        <p:spPr>
          <a:xfrm>
            <a:off x="412595" y="4999129"/>
            <a:ext cx="6077413" cy="273762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p:cxnSp>
        <p:nvCxnSpPr>
          <p:cNvPr id="19" name="Conector recto de flecha 18">
            <a:extLst>
              <a:ext uri="{FF2B5EF4-FFF2-40B4-BE49-F238E27FC236}">
                <a16:creationId xmlns:a16="http://schemas.microsoft.com/office/drawing/2014/main" id="{7A8E503D-4787-A2B1-6950-A8BC3D06D78C}"/>
              </a:ext>
            </a:extLst>
          </p:cNvPr>
          <p:cNvCxnSpPr>
            <a:cxnSpLocks/>
          </p:cNvCxnSpPr>
          <p:nvPr/>
        </p:nvCxnSpPr>
        <p:spPr>
          <a:xfrm flipV="1">
            <a:off x="892098" y="5229013"/>
            <a:ext cx="0" cy="22418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Conector recto de flecha 19">
            <a:extLst>
              <a:ext uri="{FF2B5EF4-FFF2-40B4-BE49-F238E27FC236}">
                <a16:creationId xmlns:a16="http://schemas.microsoft.com/office/drawing/2014/main" id="{06686A32-4D33-7BA8-33F9-D6F10D1BADA7}"/>
              </a:ext>
            </a:extLst>
          </p:cNvPr>
          <p:cNvCxnSpPr>
            <a:cxnSpLocks/>
          </p:cNvCxnSpPr>
          <p:nvPr/>
        </p:nvCxnSpPr>
        <p:spPr>
          <a:xfrm>
            <a:off x="703802" y="7284679"/>
            <a:ext cx="54937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Rectángulo 21">
            <a:extLst>
              <a:ext uri="{FF2B5EF4-FFF2-40B4-BE49-F238E27FC236}">
                <a16:creationId xmlns:a16="http://schemas.microsoft.com/office/drawing/2014/main" id="{024E5030-4653-220D-F8F9-26A042BF7019}"/>
              </a:ext>
            </a:extLst>
          </p:cNvPr>
          <p:cNvSpPr/>
          <p:nvPr/>
        </p:nvSpPr>
        <p:spPr>
          <a:xfrm>
            <a:off x="2711055" y="7315096"/>
            <a:ext cx="1711377" cy="3912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semanas</a:t>
            </a:r>
          </a:p>
        </p:txBody>
      </p:sp>
      <p:sp>
        <p:nvSpPr>
          <p:cNvPr id="23" name="Rectángulo 22">
            <a:extLst>
              <a:ext uri="{FF2B5EF4-FFF2-40B4-BE49-F238E27FC236}">
                <a16:creationId xmlns:a16="http://schemas.microsoft.com/office/drawing/2014/main" id="{27A304FF-59C0-3CB6-B8A1-424C05514A2A}"/>
              </a:ext>
            </a:extLst>
          </p:cNvPr>
          <p:cNvSpPr/>
          <p:nvPr/>
        </p:nvSpPr>
        <p:spPr>
          <a:xfrm rot="16200000">
            <a:off x="-135369" y="6227478"/>
            <a:ext cx="1711377" cy="2552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Promedio</a:t>
            </a:r>
          </a:p>
        </p:txBody>
      </p:sp>
      <p:sp>
        <p:nvSpPr>
          <p:cNvPr id="24" name="Rectángulo 23">
            <a:extLst>
              <a:ext uri="{FF2B5EF4-FFF2-40B4-BE49-F238E27FC236}">
                <a16:creationId xmlns:a16="http://schemas.microsoft.com/office/drawing/2014/main" id="{106156E2-9594-6EEF-B826-F6A682ED5C7B}"/>
              </a:ext>
            </a:extLst>
          </p:cNvPr>
          <p:cNvSpPr/>
          <p:nvPr/>
        </p:nvSpPr>
        <p:spPr>
          <a:xfrm>
            <a:off x="412595" y="7897669"/>
            <a:ext cx="6077413" cy="356408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p:cxnSp>
        <p:nvCxnSpPr>
          <p:cNvPr id="25" name="Conector recto de flecha 24">
            <a:extLst>
              <a:ext uri="{FF2B5EF4-FFF2-40B4-BE49-F238E27FC236}">
                <a16:creationId xmlns:a16="http://schemas.microsoft.com/office/drawing/2014/main" id="{D0F94DBC-645E-8B04-EC90-E6AA8EAF561A}"/>
              </a:ext>
            </a:extLst>
          </p:cNvPr>
          <p:cNvCxnSpPr>
            <a:cxnSpLocks/>
          </p:cNvCxnSpPr>
          <p:nvPr/>
        </p:nvCxnSpPr>
        <p:spPr>
          <a:xfrm flipV="1">
            <a:off x="892098" y="8127553"/>
            <a:ext cx="0" cy="2984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Conector recto de flecha 25">
            <a:extLst>
              <a:ext uri="{FF2B5EF4-FFF2-40B4-BE49-F238E27FC236}">
                <a16:creationId xmlns:a16="http://schemas.microsoft.com/office/drawing/2014/main" id="{6744427E-E829-4D21-FA7B-9AF50D934236}"/>
              </a:ext>
            </a:extLst>
          </p:cNvPr>
          <p:cNvCxnSpPr>
            <a:cxnSpLocks/>
          </p:cNvCxnSpPr>
          <p:nvPr/>
        </p:nvCxnSpPr>
        <p:spPr>
          <a:xfrm>
            <a:off x="703802" y="10938869"/>
            <a:ext cx="54937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Rectángulo 26">
            <a:extLst>
              <a:ext uri="{FF2B5EF4-FFF2-40B4-BE49-F238E27FC236}">
                <a16:creationId xmlns:a16="http://schemas.microsoft.com/office/drawing/2014/main" id="{E9924499-DB6E-3516-BAE7-8C39A1CB0565}"/>
              </a:ext>
            </a:extLst>
          </p:cNvPr>
          <p:cNvSpPr/>
          <p:nvPr/>
        </p:nvSpPr>
        <p:spPr>
          <a:xfrm>
            <a:off x="2711055" y="10969286"/>
            <a:ext cx="1711377" cy="3912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semanas</a:t>
            </a:r>
          </a:p>
        </p:txBody>
      </p:sp>
      <p:sp>
        <p:nvSpPr>
          <p:cNvPr id="28" name="Rectángulo 27">
            <a:extLst>
              <a:ext uri="{FF2B5EF4-FFF2-40B4-BE49-F238E27FC236}">
                <a16:creationId xmlns:a16="http://schemas.microsoft.com/office/drawing/2014/main" id="{AA000112-0910-D2D0-4214-133895375AB5}"/>
              </a:ext>
            </a:extLst>
          </p:cNvPr>
          <p:cNvSpPr/>
          <p:nvPr/>
        </p:nvSpPr>
        <p:spPr>
          <a:xfrm rot="16200000">
            <a:off x="103650" y="10149005"/>
            <a:ext cx="1200305" cy="2552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Mayor a 7</a:t>
            </a:r>
          </a:p>
        </p:txBody>
      </p:sp>
      <p:sp>
        <p:nvSpPr>
          <p:cNvPr id="29" name="Rectángulo 28">
            <a:extLst>
              <a:ext uri="{FF2B5EF4-FFF2-40B4-BE49-F238E27FC236}">
                <a16:creationId xmlns:a16="http://schemas.microsoft.com/office/drawing/2014/main" id="{A12CA18F-795E-78CE-B612-922B83C3A797}"/>
              </a:ext>
            </a:extLst>
          </p:cNvPr>
          <p:cNvSpPr/>
          <p:nvPr/>
        </p:nvSpPr>
        <p:spPr>
          <a:xfrm rot="16200000">
            <a:off x="103086" y="8768565"/>
            <a:ext cx="1200305" cy="2552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Menor a 7</a:t>
            </a:r>
          </a:p>
        </p:txBody>
      </p:sp>
      <p:sp>
        <p:nvSpPr>
          <p:cNvPr id="33" name="Rectángulo 32">
            <a:extLst>
              <a:ext uri="{FF2B5EF4-FFF2-40B4-BE49-F238E27FC236}">
                <a16:creationId xmlns:a16="http://schemas.microsoft.com/office/drawing/2014/main" id="{000EDAC0-7EF8-D83B-6D2D-DF09E622883B}"/>
              </a:ext>
            </a:extLst>
          </p:cNvPr>
          <p:cNvSpPr/>
          <p:nvPr/>
        </p:nvSpPr>
        <p:spPr>
          <a:xfrm>
            <a:off x="1021080" y="9570230"/>
            <a:ext cx="788654" cy="136863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34" name="Rectángulo 33">
            <a:extLst>
              <a:ext uri="{FF2B5EF4-FFF2-40B4-BE49-F238E27FC236}">
                <a16:creationId xmlns:a16="http://schemas.microsoft.com/office/drawing/2014/main" id="{D4867B8D-C18B-24BB-C13E-8C06F08EDCE0}"/>
              </a:ext>
            </a:extLst>
          </p:cNvPr>
          <p:cNvSpPr/>
          <p:nvPr/>
        </p:nvSpPr>
        <p:spPr>
          <a:xfrm>
            <a:off x="1021080" y="8653319"/>
            <a:ext cx="788654" cy="91691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5" name="Rectángulo 34">
            <a:extLst>
              <a:ext uri="{FF2B5EF4-FFF2-40B4-BE49-F238E27FC236}">
                <a16:creationId xmlns:a16="http://schemas.microsoft.com/office/drawing/2014/main" id="{8747E9BE-BD8A-4639-A479-9D2382D330CB}"/>
              </a:ext>
            </a:extLst>
          </p:cNvPr>
          <p:cNvSpPr/>
          <p:nvPr/>
        </p:nvSpPr>
        <p:spPr>
          <a:xfrm>
            <a:off x="2129801" y="9792420"/>
            <a:ext cx="788654" cy="114644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6" name="Rectángulo 35">
            <a:extLst>
              <a:ext uri="{FF2B5EF4-FFF2-40B4-BE49-F238E27FC236}">
                <a16:creationId xmlns:a16="http://schemas.microsoft.com/office/drawing/2014/main" id="{419CE6AB-6A58-D894-8B1F-766A03771E62}"/>
              </a:ext>
            </a:extLst>
          </p:cNvPr>
          <p:cNvSpPr/>
          <p:nvPr/>
        </p:nvSpPr>
        <p:spPr>
          <a:xfrm>
            <a:off x="3375046" y="9244279"/>
            <a:ext cx="788654" cy="1661517"/>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7" name="Rectángulo 36">
            <a:extLst>
              <a:ext uri="{FF2B5EF4-FFF2-40B4-BE49-F238E27FC236}">
                <a16:creationId xmlns:a16="http://schemas.microsoft.com/office/drawing/2014/main" id="{0B86FB4E-4055-3F62-2993-7CC87E4093E3}"/>
              </a:ext>
            </a:extLst>
          </p:cNvPr>
          <p:cNvSpPr/>
          <p:nvPr/>
        </p:nvSpPr>
        <p:spPr>
          <a:xfrm>
            <a:off x="4786323" y="9620026"/>
            <a:ext cx="788654" cy="1262367"/>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8" name="Rectángulo 37">
            <a:extLst>
              <a:ext uri="{FF2B5EF4-FFF2-40B4-BE49-F238E27FC236}">
                <a16:creationId xmlns:a16="http://schemas.microsoft.com/office/drawing/2014/main" id="{780F539A-C581-8131-81DA-B38D691724B0}"/>
              </a:ext>
            </a:extLst>
          </p:cNvPr>
          <p:cNvSpPr/>
          <p:nvPr/>
        </p:nvSpPr>
        <p:spPr>
          <a:xfrm>
            <a:off x="2129801" y="8296061"/>
            <a:ext cx="788654" cy="149635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9" name="Rectángulo 38">
            <a:extLst>
              <a:ext uri="{FF2B5EF4-FFF2-40B4-BE49-F238E27FC236}">
                <a16:creationId xmlns:a16="http://schemas.microsoft.com/office/drawing/2014/main" id="{347E768A-19EC-78D2-E6FA-F50A333578E5}"/>
              </a:ext>
            </a:extLst>
          </p:cNvPr>
          <p:cNvSpPr/>
          <p:nvPr/>
        </p:nvSpPr>
        <p:spPr>
          <a:xfrm>
            <a:off x="3375046" y="8547048"/>
            <a:ext cx="788654" cy="73030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0" name="Rectángulo 39">
            <a:extLst>
              <a:ext uri="{FF2B5EF4-FFF2-40B4-BE49-F238E27FC236}">
                <a16:creationId xmlns:a16="http://schemas.microsoft.com/office/drawing/2014/main" id="{8F3AFF41-00CF-31F8-354A-C30FCBAF2363}"/>
              </a:ext>
            </a:extLst>
          </p:cNvPr>
          <p:cNvSpPr/>
          <p:nvPr/>
        </p:nvSpPr>
        <p:spPr>
          <a:xfrm>
            <a:off x="4786323" y="8296060"/>
            <a:ext cx="788654" cy="1380441"/>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1" name="Rectángulo 40">
            <a:extLst>
              <a:ext uri="{FF2B5EF4-FFF2-40B4-BE49-F238E27FC236}">
                <a16:creationId xmlns:a16="http://schemas.microsoft.com/office/drawing/2014/main" id="{95BCE1F5-C7D0-1D98-9DF0-9E72DE4F490B}"/>
              </a:ext>
            </a:extLst>
          </p:cNvPr>
          <p:cNvSpPr/>
          <p:nvPr/>
        </p:nvSpPr>
        <p:spPr>
          <a:xfrm rot="16200000">
            <a:off x="-618216" y="9300561"/>
            <a:ext cx="1711377" cy="4749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Conteo Estudiantes</a:t>
            </a:r>
          </a:p>
        </p:txBody>
      </p:sp>
      <p:sp>
        <p:nvSpPr>
          <p:cNvPr id="42" name="Forma libre: forma 41">
            <a:extLst>
              <a:ext uri="{FF2B5EF4-FFF2-40B4-BE49-F238E27FC236}">
                <a16:creationId xmlns:a16="http://schemas.microsoft.com/office/drawing/2014/main" id="{8A731B04-1A9E-12C7-99AD-D8D3035D39F9}"/>
              </a:ext>
            </a:extLst>
          </p:cNvPr>
          <p:cNvSpPr/>
          <p:nvPr/>
        </p:nvSpPr>
        <p:spPr>
          <a:xfrm>
            <a:off x="892098" y="5608839"/>
            <a:ext cx="5185316" cy="1672907"/>
          </a:xfrm>
          <a:custGeom>
            <a:avLst/>
            <a:gdLst>
              <a:gd name="connsiteX0" fmla="*/ 0 w 4525945"/>
              <a:gd name="connsiteY0" fmla="*/ 1672907 h 1672907"/>
              <a:gd name="connsiteX1" fmla="*/ 769434 w 4525945"/>
              <a:gd name="connsiteY1" fmla="*/ 223249 h 1672907"/>
              <a:gd name="connsiteX2" fmla="*/ 1851102 w 4525945"/>
              <a:gd name="connsiteY2" fmla="*/ 1215707 h 1672907"/>
              <a:gd name="connsiteX3" fmla="*/ 2810107 w 4525945"/>
              <a:gd name="connsiteY3" fmla="*/ 224 h 1672907"/>
              <a:gd name="connsiteX4" fmla="*/ 4092497 w 4525945"/>
              <a:gd name="connsiteY4" fmla="*/ 1115346 h 1672907"/>
              <a:gd name="connsiteX5" fmla="*/ 4493941 w 4525945"/>
              <a:gd name="connsiteY5" fmla="*/ 1260312 h 1672907"/>
              <a:gd name="connsiteX6" fmla="*/ 4471639 w 4525945"/>
              <a:gd name="connsiteY6" fmla="*/ 1238010 h 1672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5945" h="1672907">
                <a:moveTo>
                  <a:pt x="0" y="1672907"/>
                </a:moveTo>
                <a:cubicBezTo>
                  <a:pt x="230458" y="986178"/>
                  <a:pt x="460917" y="299449"/>
                  <a:pt x="769434" y="223249"/>
                </a:cubicBezTo>
                <a:cubicBezTo>
                  <a:pt x="1077951" y="147049"/>
                  <a:pt x="1510990" y="1252878"/>
                  <a:pt x="1851102" y="1215707"/>
                </a:cubicBezTo>
                <a:cubicBezTo>
                  <a:pt x="2191214" y="1178536"/>
                  <a:pt x="2436541" y="16951"/>
                  <a:pt x="2810107" y="224"/>
                </a:cubicBezTo>
                <a:cubicBezTo>
                  <a:pt x="3183673" y="-16503"/>
                  <a:pt x="3811858" y="905331"/>
                  <a:pt x="4092497" y="1115346"/>
                </a:cubicBezTo>
                <a:cubicBezTo>
                  <a:pt x="4373136" y="1325361"/>
                  <a:pt x="4430751" y="1239868"/>
                  <a:pt x="4493941" y="1260312"/>
                </a:cubicBezTo>
                <a:cubicBezTo>
                  <a:pt x="4557131" y="1280756"/>
                  <a:pt x="4514385" y="1259383"/>
                  <a:pt x="4471639" y="123801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3" name="Elipse 42">
            <a:extLst>
              <a:ext uri="{FF2B5EF4-FFF2-40B4-BE49-F238E27FC236}">
                <a16:creationId xmlns:a16="http://schemas.microsoft.com/office/drawing/2014/main" id="{97AAD3C8-0D0F-8D36-9A16-3F55B8844495}"/>
              </a:ext>
            </a:extLst>
          </p:cNvPr>
          <p:cNvSpPr/>
          <p:nvPr/>
        </p:nvSpPr>
        <p:spPr>
          <a:xfrm>
            <a:off x="1710749" y="5753510"/>
            <a:ext cx="181656" cy="1937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4" name="Elipse 43">
            <a:extLst>
              <a:ext uri="{FF2B5EF4-FFF2-40B4-BE49-F238E27FC236}">
                <a16:creationId xmlns:a16="http://schemas.microsoft.com/office/drawing/2014/main" id="{E6C239D0-FE4C-5285-486C-4619053829C4}"/>
              </a:ext>
            </a:extLst>
          </p:cNvPr>
          <p:cNvSpPr/>
          <p:nvPr/>
        </p:nvSpPr>
        <p:spPr>
          <a:xfrm>
            <a:off x="2909658" y="6713273"/>
            <a:ext cx="181656" cy="1937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5" name="Elipse 44">
            <a:extLst>
              <a:ext uri="{FF2B5EF4-FFF2-40B4-BE49-F238E27FC236}">
                <a16:creationId xmlns:a16="http://schemas.microsoft.com/office/drawing/2014/main" id="{A203D9C7-C529-3826-0E0B-FDABC988CC25}"/>
              </a:ext>
            </a:extLst>
          </p:cNvPr>
          <p:cNvSpPr/>
          <p:nvPr/>
        </p:nvSpPr>
        <p:spPr>
          <a:xfrm>
            <a:off x="4072872" y="5522136"/>
            <a:ext cx="181656" cy="1937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6" name="Elipse 45">
            <a:extLst>
              <a:ext uri="{FF2B5EF4-FFF2-40B4-BE49-F238E27FC236}">
                <a16:creationId xmlns:a16="http://schemas.microsoft.com/office/drawing/2014/main" id="{33365747-7673-85A0-FB95-917BA0026605}"/>
              </a:ext>
            </a:extLst>
          </p:cNvPr>
          <p:cNvSpPr/>
          <p:nvPr/>
        </p:nvSpPr>
        <p:spPr>
          <a:xfrm>
            <a:off x="5784246" y="6761799"/>
            <a:ext cx="181656" cy="1937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7" name="CuadroTexto 46">
            <a:extLst>
              <a:ext uri="{FF2B5EF4-FFF2-40B4-BE49-F238E27FC236}">
                <a16:creationId xmlns:a16="http://schemas.microsoft.com/office/drawing/2014/main" id="{6A71BA98-551A-1D9F-B42A-68CA952E4401}"/>
              </a:ext>
            </a:extLst>
          </p:cNvPr>
          <p:cNvSpPr txBox="1"/>
          <p:nvPr/>
        </p:nvSpPr>
        <p:spPr>
          <a:xfrm>
            <a:off x="1181107" y="5363829"/>
            <a:ext cx="1272545" cy="369332"/>
          </a:xfrm>
          <a:prstGeom prst="rect">
            <a:avLst/>
          </a:prstGeom>
          <a:noFill/>
        </p:spPr>
        <p:txBody>
          <a:bodyPr wrap="square" rtlCol="0">
            <a:spAutoFit/>
          </a:bodyPr>
          <a:lstStyle/>
          <a:p>
            <a:pPr algn="ctr"/>
            <a:r>
              <a:rPr lang="es-EC" dirty="0"/>
              <a:t>Semana 1</a:t>
            </a:r>
          </a:p>
        </p:txBody>
      </p:sp>
      <p:sp>
        <p:nvSpPr>
          <p:cNvPr id="48" name="CuadroTexto 47">
            <a:extLst>
              <a:ext uri="{FF2B5EF4-FFF2-40B4-BE49-F238E27FC236}">
                <a16:creationId xmlns:a16="http://schemas.microsoft.com/office/drawing/2014/main" id="{9E95D004-C9ED-C55E-35AD-9974C52685D3}"/>
              </a:ext>
            </a:extLst>
          </p:cNvPr>
          <p:cNvSpPr txBox="1"/>
          <p:nvPr/>
        </p:nvSpPr>
        <p:spPr>
          <a:xfrm>
            <a:off x="2364744" y="6873192"/>
            <a:ext cx="1272545" cy="369332"/>
          </a:xfrm>
          <a:prstGeom prst="rect">
            <a:avLst/>
          </a:prstGeom>
          <a:noFill/>
        </p:spPr>
        <p:txBody>
          <a:bodyPr wrap="square" rtlCol="0">
            <a:spAutoFit/>
          </a:bodyPr>
          <a:lstStyle/>
          <a:p>
            <a:pPr algn="ctr"/>
            <a:r>
              <a:rPr lang="es-EC" dirty="0"/>
              <a:t>Semana 2</a:t>
            </a:r>
          </a:p>
        </p:txBody>
      </p:sp>
      <p:sp>
        <p:nvSpPr>
          <p:cNvPr id="49" name="CuadroTexto 48">
            <a:extLst>
              <a:ext uri="{FF2B5EF4-FFF2-40B4-BE49-F238E27FC236}">
                <a16:creationId xmlns:a16="http://schemas.microsoft.com/office/drawing/2014/main" id="{09CD944C-B639-2932-95D8-5736494C397E}"/>
              </a:ext>
            </a:extLst>
          </p:cNvPr>
          <p:cNvSpPr txBox="1"/>
          <p:nvPr/>
        </p:nvSpPr>
        <p:spPr>
          <a:xfrm>
            <a:off x="3484756" y="5115873"/>
            <a:ext cx="1272545" cy="369332"/>
          </a:xfrm>
          <a:prstGeom prst="rect">
            <a:avLst/>
          </a:prstGeom>
          <a:noFill/>
        </p:spPr>
        <p:txBody>
          <a:bodyPr wrap="square" rtlCol="0">
            <a:spAutoFit/>
          </a:bodyPr>
          <a:lstStyle/>
          <a:p>
            <a:pPr algn="ctr"/>
            <a:r>
              <a:rPr lang="es-EC" dirty="0"/>
              <a:t>Semana 3</a:t>
            </a:r>
          </a:p>
        </p:txBody>
      </p:sp>
      <p:sp>
        <p:nvSpPr>
          <p:cNvPr id="50" name="CuadroTexto 49">
            <a:extLst>
              <a:ext uri="{FF2B5EF4-FFF2-40B4-BE49-F238E27FC236}">
                <a16:creationId xmlns:a16="http://schemas.microsoft.com/office/drawing/2014/main" id="{E8B41DC6-19BA-7300-4140-DA6692AAC5EB}"/>
              </a:ext>
            </a:extLst>
          </p:cNvPr>
          <p:cNvSpPr txBox="1"/>
          <p:nvPr/>
        </p:nvSpPr>
        <p:spPr>
          <a:xfrm>
            <a:off x="5108873" y="6905691"/>
            <a:ext cx="1272545" cy="369332"/>
          </a:xfrm>
          <a:prstGeom prst="rect">
            <a:avLst/>
          </a:prstGeom>
          <a:noFill/>
        </p:spPr>
        <p:txBody>
          <a:bodyPr wrap="square" rtlCol="0">
            <a:spAutoFit/>
          </a:bodyPr>
          <a:lstStyle/>
          <a:p>
            <a:pPr algn="ctr"/>
            <a:r>
              <a:rPr lang="es-EC" dirty="0"/>
              <a:t>Semana 4</a:t>
            </a:r>
          </a:p>
        </p:txBody>
      </p:sp>
      <p:sp>
        <p:nvSpPr>
          <p:cNvPr id="52" name="Rectángulo: esquina doblada 51">
            <a:extLst>
              <a:ext uri="{FF2B5EF4-FFF2-40B4-BE49-F238E27FC236}">
                <a16:creationId xmlns:a16="http://schemas.microsoft.com/office/drawing/2014/main" id="{163B6DCA-1029-FED3-C6F9-DCD15F465B81}"/>
              </a:ext>
            </a:extLst>
          </p:cNvPr>
          <p:cNvSpPr/>
          <p:nvPr/>
        </p:nvSpPr>
        <p:spPr>
          <a:xfrm>
            <a:off x="-3094463" y="4607736"/>
            <a:ext cx="3053288" cy="1979332"/>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Dos </a:t>
            </a:r>
            <a:r>
              <a:rPr lang="es-EC" dirty="0" err="1"/>
              <a:t>dashboard</a:t>
            </a:r>
            <a:r>
              <a:rPr lang="es-EC" dirty="0"/>
              <a:t>. Una tomando en cuenta a los que tienen cero en todo y otra no tomándolos en cuenta.</a:t>
            </a:r>
          </a:p>
        </p:txBody>
      </p:sp>
    </p:spTree>
    <p:extLst>
      <p:ext uri="{BB962C8B-B14F-4D97-AF65-F5344CB8AC3E}">
        <p14:creationId xmlns:p14="http://schemas.microsoft.com/office/powerpoint/2010/main" val="1171995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9216F-681B-F752-9E46-CBB7C4EC6EED}"/>
            </a:ext>
          </a:extLst>
        </p:cNvPr>
        <p:cNvGrpSpPr/>
        <p:nvPr/>
      </p:nvGrpSpPr>
      <p:grpSpPr>
        <a:xfrm>
          <a:off x="0" y="0"/>
          <a:ext cx="0" cy="0"/>
          <a:chOff x="0" y="0"/>
          <a:chExt cx="0" cy="0"/>
        </a:xfrm>
      </p:grpSpPr>
      <p:sp>
        <p:nvSpPr>
          <p:cNvPr id="96" name="Rectángulo 95">
            <a:extLst>
              <a:ext uri="{FF2B5EF4-FFF2-40B4-BE49-F238E27FC236}">
                <a16:creationId xmlns:a16="http://schemas.microsoft.com/office/drawing/2014/main" id="{01EEE262-C848-BE6F-7274-A4DC0250A5AC}"/>
              </a:ext>
            </a:extLst>
          </p:cNvPr>
          <p:cNvSpPr/>
          <p:nvPr/>
        </p:nvSpPr>
        <p:spPr>
          <a:xfrm>
            <a:off x="2954" y="-1"/>
            <a:ext cx="6855044" cy="1219200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 name="Rectángulo 3">
            <a:extLst>
              <a:ext uri="{FF2B5EF4-FFF2-40B4-BE49-F238E27FC236}">
                <a16:creationId xmlns:a16="http://schemas.microsoft.com/office/drawing/2014/main" id="{62E80A1A-FBB1-0BA1-30D6-2FF6658F2054}"/>
              </a:ext>
            </a:extLst>
          </p:cNvPr>
          <p:cNvSpPr/>
          <p:nvPr/>
        </p:nvSpPr>
        <p:spPr>
          <a:xfrm>
            <a:off x="412595" y="223024"/>
            <a:ext cx="6077415" cy="4683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GENERO</a:t>
            </a:r>
          </a:p>
        </p:txBody>
      </p:sp>
      <p:sp>
        <p:nvSpPr>
          <p:cNvPr id="48" name="Rectángulo 47">
            <a:extLst>
              <a:ext uri="{FF2B5EF4-FFF2-40B4-BE49-F238E27FC236}">
                <a16:creationId xmlns:a16="http://schemas.microsoft.com/office/drawing/2014/main" id="{0A05D558-56A2-968D-9A4E-817E061765C0}"/>
              </a:ext>
            </a:extLst>
          </p:cNvPr>
          <p:cNvSpPr/>
          <p:nvPr/>
        </p:nvSpPr>
        <p:spPr>
          <a:xfrm>
            <a:off x="412593" y="1212146"/>
            <a:ext cx="6077413" cy="273762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p:cxnSp>
        <p:nvCxnSpPr>
          <p:cNvPr id="49" name="Conector recto de flecha 48">
            <a:extLst>
              <a:ext uri="{FF2B5EF4-FFF2-40B4-BE49-F238E27FC236}">
                <a16:creationId xmlns:a16="http://schemas.microsoft.com/office/drawing/2014/main" id="{F19F8FD7-7E48-C0AB-C286-3850B180DFC8}"/>
              </a:ext>
            </a:extLst>
          </p:cNvPr>
          <p:cNvCxnSpPr>
            <a:cxnSpLocks/>
          </p:cNvCxnSpPr>
          <p:nvPr/>
        </p:nvCxnSpPr>
        <p:spPr>
          <a:xfrm flipV="1">
            <a:off x="892096" y="1442030"/>
            <a:ext cx="0" cy="22418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Conector recto de flecha 49">
            <a:extLst>
              <a:ext uri="{FF2B5EF4-FFF2-40B4-BE49-F238E27FC236}">
                <a16:creationId xmlns:a16="http://schemas.microsoft.com/office/drawing/2014/main" id="{C4A548E7-B2DE-28FE-1AF3-AF190EE340AB}"/>
              </a:ext>
            </a:extLst>
          </p:cNvPr>
          <p:cNvCxnSpPr>
            <a:cxnSpLocks/>
          </p:cNvCxnSpPr>
          <p:nvPr/>
        </p:nvCxnSpPr>
        <p:spPr>
          <a:xfrm>
            <a:off x="703800" y="3497696"/>
            <a:ext cx="54937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1" name="Rectángulo 50">
            <a:extLst>
              <a:ext uri="{FF2B5EF4-FFF2-40B4-BE49-F238E27FC236}">
                <a16:creationId xmlns:a16="http://schemas.microsoft.com/office/drawing/2014/main" id="{3B8124A7-D316-74A4-2D7C-68C8B3381535}"/>
              </a:ext>
            </a:extLst>
          </p:cNvPr>
          <p:cNvSpPr/>
          <p:nvPr/>
        </p:nvSpPr>
        <p:spPr>
          <a:xfrm>
            <a:off x="2711053" y="3528113"/>
            <a:ext cx="1711377" cy="3912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semanas</a:t>
            </a:r>
          </a:p>
        </p:txBody>
      </p:sp>
      <p:sp>
        <p:nvSpPr>
          <p:cNvPr id="52" name="Rectángulo 51">
            <a:extLst>
              <a:ext uri="{FF2B5EF4-FFF2-40B4-BE49-F238E27FC236}">
                <a16:creationId xmlns:a16="http://schemas.microsoft.com/office/drawing/2014/main" id="{533EFADA-55B8-357D-1FB9-A96418BB02DE}"/>
              </a:ext>
            </a:extLst>
          </p:cNvPr>
          <p:cNvSpPr/>
          <p:nvPr/>
        </p:nvSpPr>
        <p:spPr>
          <a:xfrm rot="16200000">
            <a:off x="-135371" y="2440495"/>
            <a:ext cx="1711377" cy="2552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Promedio por g</a:t>
            </a:r>
          </a:p>
        </p:txBody>
      </p:sp>
      <p:sp>
        <p:nvSpPr>
          <p:cNvPr id="53" name="Rectángulo 52">
            <a:extLst>
              <a:ext uri="{FF2B5EF4-FFF2-40B4-BE49-F238E27FC236}">
                <a16:creationId xmlns:a16="http://schemas.microsoft.com/office/drawing/2014/main" id="{5504B18C-C4A1-56E6-45AB-84F2CC27F979}"/>
              </a:ext>
            </a:extLst>
          </p:cNvPr>
          <p:cNvSpPr/>
          <p:nvPr/>
        </p:nvSpPr>
        <p:spPr>
          <a:xfrm>
            <a:off x="412593" y="4179655"/>
            <a:ext cx="6077413" cy="356408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p:cxnSp>
        <p:nvCxnSpPr>
          <p:cNvPr id="54" name="Conector recto de flecha 53">
            <a:extLst>
              <a:ext uri="{FF2B5EF4-FFF2-40B4-BE49-F238E27FC236}">
                <a16:creationId xmlns:a16="http://schemas.microsoft.com/office/drawing/2014/main" id="{77FD3AD5-F742-E6C1-08E7-F4E9A57194DF}"/>
              </a:ext>
            </a:extLst>
          </p:cNvPr>
          <p:cNvCxnSpPr>
            <a:cxnSpLocks/>
          </p:cNvCxnSpPr>
          <p:nvPr/>
        </p:nvCxnSpPr>
        <p:spPr>
          <a:xfrm flipV="1">
            <a:off x="1171498" y="4409539"/>
            <a:ext cx="0" cy="2984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Conector recto de flecha 54">
            <a:extLst>
              <a:ext uri="{FF2B5EF4-FFF2-40B4-BE49-F238E27FC236}">
                <a16:creationId xmlns:a16="http://schemas.microsoft.com/office/drawing/2014/main" id="{E6ED4063-8FC5-A52F-E5F5-1E89062AD497}"/>
              </a:ext>
            </a:extLst>
          </p:cNvPr>
          <p:cNvCxnSpPr>
            <a:cxnSpLocks/>
          </p:cNvCxnSpPr>
          <p:nvPr/>
        </p:nvCxnSpPr>
        <p:spPr>
          <a:xfrm>
            <a:off x="703800" y="7220855"/>
            <a:ext cx="54937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6" name="Rectángulo 55">
            <a:extLst>
              <a:ext uri="{FF2B5EF4-FFF2-40B4-BE49-F238E27FC236}">
                <a16:creationId xmlns:a16="http://schemas.microsoft.com/office/drawing/2014/main" id="{EEBD0452-FD83-58A4-7D52-1E5299E57A2A}"/>
              </a:ext>
            </a:extLst>
          </p:cNvPr>
          <p:cNvSpPr/>
          <p:nvPr/>
        </p:nvSpPr>
        <p:spPr>
          <a:xfrm>
            <a:off x="2990455" y="7251272"/>
            <a:ext cx="1711377" cy="3912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semanas</a:t>
            </a:r>
          </a:p>
        </p:txBody>
      </p:sp>
      <p:sp>
        <p:nvSpPr>
          <p:cNvPr id="57" name="Rectángulo 56">
            <a:extLst>
              <a:ext uri="{FF2B5EF4-FFF2-40B4-BE49-F238E27FC236}">
                <a16:creationId xmlns:a16="http://schemas.microsoft.com/office/drawing/2014/main" id="{D83447B2-3515-A3DB-900B-A4E512C15209}"/>
              </a:ext>
            </a:extLst>
          </p:cNvPr>
          <p:cNvSpPr/>
          <p:nvPr/>
        </p:nvSpPr>
        <p:spPr>
          <a:xfrm rot="16200000">
            <a:off x="383050" y="6430991"/>
            <a:ext cx="1200305" cy="2552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Mayor a 7</a:t>
            </a:r>
          </a:p>
        </p:txBody>
      </p:sp>
      <p:sp>
        <p:nvSpPr>
          <p:cNvPr id="58" name="Rectángulo 57">
            <a:extLst>
              <a:ext uri="{FF2B5EF4-FFF2-40B4-BE49-F238E27FC236}">
                <a16:creationId xmlns:a16="http://schemas.microsoft.com/office/drawing/2014/main" id="{6466D0A1-4929-BCC9-B2F3-FA1BC96555BA}"/>
              </a:ext>
            </a:extLst>
          </p:cNvPr>
          <p:cNvSpPr/>
          <p:nvPr/>
        </p:nvSpPr>
        <p:spPr>
          <a:xfrm rot="16200000">
            <a:off x="382486" y="5050551"/>
            <a:ext cx="1200305" cy="2552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Menor a 7</a:t>
            </a:r>
          </a:p>
        </p:txBody>
      </p:sp>
      <p:sp>
        <p:nvSpPr>
          <p:cNvPr id="59" name="Rectángulo 58">
            <a:extLst>
              <a:ext uri="{FF2B5EF4-FFF2-40B4-BE49-F238E27FC236}">
                <a16:creationId xmlns:a16="http://schemas.microsoft.com/office/drawing/2014/main" id="{97B90744-8B7C-D7F0-95AF-667F4F1F34B7}"/>
              </a:ext>
            </a:extLst>
          </p:cNvPr>
          <p:cNvSpPr/>
          <p:nvPr/>
        </p:nvSpPr>
        <p:spPr>
          <a:xfrm>
            <a:off x="1300480" y="5852216"/>
            <a:ext cx="788654" cy="136863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60" name="Rectángulo 59">
            <a:extLst>
              <a:ext uri="{FF2B5EF4-FFF2-40B4-BE49-F238E27FC236}">
                <a16:creationId xmlns:a16="http://schemas.microsoft.com/office/drawing/2014/main" id="{A4F65B63-EAD0-0720-C476-A5B0CCD5C7A0}"/>
              </a:ext>
            </a:extLst>
          </p:cNvPr>
          <p:cNvSpPr/>
          <p:nvPr/>
        </p:nvSpPr>
        <p:spPr>
          <a:xfrm>
            <a:off x="1300480" y="4935305"/>
            <a:ext cx="788654" cy="91691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61" name="Rectángulo 60">
            <a:extLst>
              <a:ext uri="{FF2B5EF4-FFF2-40B4-BE49-F238E27FC236}">
                <a16:creationId xmlns:a16="http://schemas.microsoft.com/office/drawing/2014/main" id="{2C0FFB9A-3AA3-2A5C-990D-3A164528294E}"/>
              </a:ext>
            </a:extLst>
          </p:cNvPr>
          <p:cNvSpPr/>
          <p:nvPr/>
        </p:nvSpPr>
        <p:spPr>
          <a:xfrm>
            <a:off x="2409201" y="6074406"/>
            <a:ext cx="788654" cy="114644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62" name="Rectángulo 61">
            <a:extLst>
              <a:ext uri="{FF2B5EF4-FFF2-40B4-BE49-F238E27FC236}">
                <a16:creationId xmlns:a16="http://schemas.microsoft.com/office/drawing/2014/main" id="{46068618-00D8-1D45-7F23-51E19396C99F}"/>
              </a:ext>
            </a:extLst>
          </p:cNvPr>
          <p:cNvSpPr/>
          <p:nvPr/>
        </p:nvSpPr>
        <p:spPr>
          <a:xfrm>
            <a:off x="3654446" y="5559337"/>
            <a:ext cx="788654" cy="1661517"/>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63" name="Rectángulo 62">
            <a:extLst>
              <a:ext uri="{FF2B5EF4-FFF2-40B4-BE49-F238E27FC236}">
                <a16:creationId xmlns:a16="http://schemas.microsoft.com/office/drawing/2014/main" id="{BFC9CDBA-CDBB-5A70-1DA7-5E3F99A30C51}"/>
              </a:ext>
            </a:extLst>
          </p:cNvPr>
          <p:cNvSpPr/>
          <p:nvPr/>
        </p:nvSpPr>
        <p:spPr>
          <a:xfrm>
            <a:off x="5065723" y="5958487"/>
            <a:ext cx="788654" cy="1262367"/>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64" name="Rectángulo 63">
            <a:extLst>
              <a:ext uri="{FF2B5EF4-FFF2-40B4-BE49-F238E27FC236}">
                <a16:creationId xmlns:a16="http://schemas.microsoft.com/office/drawing/2014/main" id="{16A6178D-8429-3D14-0DAF-555F5E36244B}"/>
              </a:ext>
            </a:extLst>
          </p:cNvPr>
          <p:cNvSpPr/>
          <p:nvPr/>
        </p:nvSpPr>
        <p:spPr>
          <a:xfrm>
            <a:off x="2409201" y="4578047"/>
            <a:ext cx="788654" cy="149635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65" name="Rectángulo 64">
            <a:extLst>
              <a:ext uri="{FF2B5EF4-FFF2-40B4-BE49-F238E27FC236}">
                <a16:creationId xmlns:a16="http://schemas.microsoft.com/office/drawing/2014/main" id="{B462A264-8008-9F10-56E1-C58CEE68EBEA}"/>
              </a:ext>
            </a:extLst>
          </p:cNvPr>
          <p:cNvSpPr/>
          <p:nvPr/>
        </p:nvSpPr>
        <p:spPr>
          <a:xfrm>
            <a:off x="3654446" y="4829034"/>
            <a:ext cx="788654" cy="73030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66" name="Rectángulo 65">
            <a:extLst>
              <a:ext uri="{FF2B5EF4-FFF2-40B4-BE49-F238E27FC236}">
                <a16:creationId xmlns:a16="http://schemas.microsoft.com/office/drawing/2014/main" id="{CB7F94E7-5AAF-DA83-7DFC-B4B7196D8893}"/>
              </a:ext>
            </a:extLst>
          </p:cNvPr>
          <p:cNvSpPr/>
          <p:nvPr/>
        </p:nvSpPr>
        <p:spPr>
          <a:xfrm>
            <a:off x="5065723" y="4578046"/>
            <a:ext cx="788654" cy="1380441"/>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67" name="Rectángulo 66">
            <a:extLst>
              <a:ext uri="{FF2B5EF4-FFF2-40B4-BE49-F238E27FC236}">
                <a16:creationId xmlns:a16="http://schemas.microsoft.com/office/drawing/2014/main" id="{2D26B2C6-31DC-C72E-FEC8-B670B067F305}"/>
              </a:ext>
            </a:extLst>
          </p:cNvPr>
          <p:cNvSpPr/>
          <p:nvPr/>
        </p:nvSpPr>
        <p:spPr>
          <a:xfrm rot="16200000">
            <a:off x="-459650" y="5554471"/>
            <a:ext cx="1711377" cy="4749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Conteo Estudiantes</a:t>
            </a:r>
          </a:p>
        </p:txBody>
      </p:sp>
      <p:sp>
        <p:nvSpPr>
          <p:cNvPr id="68" name="Forma libre: forma 67">
            <a:extLst>
              <a:ext uri="{FF2B5EF4-FFF2-40B4-BE49-F238E27FC236}">
                <a16:creationId xmlns:a16="http://schemas.microsoft.com/office/drawing/2014/main" id="{8674BA0F-683C-2FAF-F68D-18E96DB15A76}"/>
              </a:ext>
            </a:extLst>
          </p:cNvPr>
          <p:cNvSpPr/>
          <p:nvPr/>
        </p:nvSpPr>
        <p:spPr>
          <a:xfrm>
            <a:off x="892096" y="1821856"/>
            <a:ext cx="5185316" cy="1672907"/>
          </a:xfrm>
          <a:custGeom>
            <a:avLst/>
            <a:gdLst>
              <a:gd name="connsiteX0" fmla="*/ 0 w 4525945"/>
              <a:gd name="connsiteY0" fmla="*/ 1672907 h 1672907"/>
              <a:gd name="connsiteX1" fmla="*/ 769434 w 4525945"/>
              <a:gd name="connsiteY1" fmla="*/ 223249 h 1672907"/>
              <a:gd name="connsiteX2" fmla="*/ 1851102 w 4525945"/>
              <a:gd name="connsiteY2" fmla="*/ 1215707 h 1672907"/>
              <a:gd name="connsiteX3" fmla="*/ 2810107 w 4525945"/>
              <a:gd name="connsiteY3" fmla="*/ 224 h 1672907"/>
              <a:gd name="connsiteX4" fmla="*/ 4092497 w 4525945"/>
              <a:gd name="connsiteY4" fmla="*/ 1115346 h 1672907"/>
              <a:gd name="connsiteX5" fmla="*/ 4493941 w 4525945"/>
              <a:gd name="connsiteY5" fmla="*/ 1260312 h 1672907"/>
              <a:gd name="connsiteX6" fmla="*/ 4471639 w 4525945"/>
              <a:gd name="connsiteY6" fmla="*/ 1238010 h 1672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5945" h="1672907">
                <a:moveTo>
                  <a:pt x="0" y="1672907"/>
                </a:moveTo>
                <a:cubicBezTo>
                  <a:pt x="230458" y="986178"/>
                  <a:pt x="460917" y="299449"/>
                  <a:pt x="769434" y="223249"/>
                </a:cubicBezTo>
                <a:cubicBezTo>
                  <a:pt x="1077951" y="147049"/>
                  <a:pt x="1510990" y="1252878"/>
                  <a:pt x="1851102" y="1215707"/>
                </a:cubicBezTo>
                <a:cubicBezTo>
                  <a:pt x="2191214" y="1178536"/>
                  <a:pt x="2436541" y="16951"/>
                  <a:pt x="2810107" y="224"/>
                </a:cubicBezTo>
                <a:cubicBezTo>
                  <a:pt x="3183673" y="-16503"/>
                  <a:pt x="3811858" y="905331"/>
                  <a:pt x="4092497" y="1115346"/>
                </a:cubicBezTo>
                <a:cubicBezTo>
                  <a:pt x="4373136" y="1325361"/>
                  <a:pt x="4430751" y="1239868"/>
                  <a:pt x="4493941" y="1260312"/>
                </a:cubicBezTo>
                <a:cubicBezTo>
                  <a:pt x="4557131" y="1280756"/>
                  <a:pt x="4514385" y="1259383"/>
                  <a:pt x="4471639" y="123801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69" name="Elipse 68">
            <a:extLst>
              <a:ext uri="{FF2B5EF4-FFF2-40B4-BE49-F238E27FC236}">
                <a16:creationId xmlns:a16="http://schemas.microsoft.com/office/drawing/2014/main" id="{3991D976-9F12-29EF-5DFD-F4507638B722}"/>
              </a:ext>
            </a:extLst>
          </p:cNvPr>
          <p:cNvSpPr/>
          <p:nvPr/>
        </p:nvSpPr>
        <p:spPr>
          <a:xfrm>
            <a:off x="1710747" y="1966527"/>
            <a:ext cx="181656" cy="1937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70" name="Elipse 69">
            <a:extLst>
              <a:ext uri="{FF2B5EF4-FFF2-40B4-BE49-F238E27FC236}">
                <a16:creationId xmlns:a16="http://schemas.microsoft.com/office/drawing/2014/main" id="{544B97D1-9949-C9AA-2245-5CECF692F5E3}"/>
              </a:ext>
            </a:extLst>
          </p:cNvPr>
          <p:cNvSpPr/>
          <p:nvPr/>
        </p:nvSpPr>
        <p:spPr>
          <a:xfrm>
            <a:off x="2909656" y="2926290"/>
            <a:ext cx="181656" cy="1937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71" name="Elipse 70">
            <a:extLst>
              <a:ext uri="{FF2B5EF4-FFF2-40B4-BE49-F238E27FC236}">
                <a16:creationId xmlns:a16="http://schemas.microsoft.com/office/drawing/2014/main" id="{B5EB043A-2AB4-6926-95AE-A98045B90F6D}"/>
              </a:ext>
            </a:extLst>
          </p:cNvPr>
          <p:cNvSpPr/>
          <p:nvPr/>
        </p:nvSpPr>
        <p:spPr>
          <a:xfrm>
            <a:off x="4072870" y="1735153"/>
            <a:ext cx="181656" cy="1937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72" name="Elipse 71">
            <a:extLst>
              <a:ext uri="{FF2B5EF4-FFF2-40B4-BE49-F238E27FC236}">
                <a16:creationId xmlns:a16="http://schemas.microsoft.com/office/drawing/2014/main" id="{C72AB7FA-E9E1-BBA4-C1D9-FA64EA5DBBF0}"/>
              </a:ext>
            </a:extLst>
          </p:cNvPr>
          <p:cNvSpPr/>
          <p:nvPr/>
        </p:nvSpPr>
        <p:spPr>
          <a:xfrm>
            <a:off x="5784244" y="2974816"/>
            <a:ext cx="181656" cy="1937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73" name="CuadroTexto 72">
            <a:extLst>
              <a:ext uri="{FF2B5EF4-FFF2-40B4-BE49-F238E27FC236}">
                <a16:creationId xmlns:a16="http://schemas.microsoft.com/office/drawing/2014/main" id="{20BAA52B-3E5F-FABF-723D-524CC1B39C79}"/>
              </a:ext>
            </a:extLst>
          </p:cNvPr>
          <p:cNvSpPr txBox="1"/>
          <p:nvPr/>
        </p:nvSpPr>
        <p:spPr>
          <a:xfrm>
            <a:off x="1181105" y="1576846"/>
            <a:ext cx="1272545" cy="369332"/>
          </a:xfrm>
          <a:prstGeom prst="rect">
            <a:avLst/>
          </a:prstGeom>
          <a:noFill/>
        </p:spPr>
        <p:txBody>
          <a:bodyPr wrap="square" rtlCol="0">
            <a:spAutoFit/>
          </a:bodyPr>
          <a:lstStyle/>
          <a:p>
            <a:pPr algn="ctr"/>
            <a:r>
              <a:rPr lang="es-EC" dirty="0"/>
              <a:t>Semana 1</a:t>
            </a:r>
          </a:p>
        </p:txBody>
      </p:sp>
      <p:sp>
        <p:nvSpPr>
          <p:cNvPr id="74" name="CuadroTexto 73">
            <a:extLst>
              <a:ext uri="{FF2B5EF4-FFF2-40B4-BE49-F238E27FC236}">
                <a16:creationId xmlns:a16="http://schemas.microsoft.com/office/drawing/2014/main" id="{35F4F1FA-DEBB-8435-1099-67346D56A4CE}"/>
              </a:ext>
            </a:extLst>
          </p:cNvPr>
          <p:cNvSpPr txBox="1"/>
          <p:nvPr/>
        </p:nvSpPr>
        <p:spPr>
          <a:xfrm>
            <a:off x="2364742" y="3086209"/>
            <a:ext cx="1272545" cy="369332"/>
          </a:xfrm>
          <a:prstGeom prst="rect">
            <a:avLst/>
          </a:prstGeom>
          <a:noFill/>
        </p:spPr>
        <p:txBody>
          <a:bodyPr wrap="square" rtlCol="0">
            <a:spAutoFit/>
          </a:bodyPr>
          <a:lstStyle/>
          <a:p>
            <a:pPr algn="ctr"/>
            <a:r>
              <a:rPr lang="es-EC" dirty="0"/>
              <a:t>Semana 2</a:t>
            </a:r>
          </a:p>
        </p:txBody>
      </p:sp>
      <p:sp>
        <p:nvSpPr>
          <p:cNvPr id="75" name="CuadroTexto 74">
            <a:extLst>
              <a:ext uri="{FF2B5EF4-FFF2-40B4-BE49-F238E27FC236}">
                <a16:creationId xmlns:a16="http://schemas.microsoft.com/office/drawing/2014/main" id="{FD3A1414-0CC2-F352-8C2F-061E02D58B0D}"/>
              </a:ext>
            </a:extLst>
          </p:cNvPr>
          <p:cNvSpPr txBox="1"/>
          <p:nvPr/>
        </p:nvSpPr>
        <p:spPr>
          <a:xfrm>
            <a:off x="3484754" y="1328890"/>
            <a:ext cx="1272545" cy="369332"/>
          </a:xfrm>
          <a:prstGeom prst="rect">
            <a:avLst/>
          </a:prstGeom>
          <a:noFill/>
        </p:spPr>
        <p:txBody>
          <a:bodyPr wrap="square" rtlCol="0">
            <a:spAutoFit/>
          </a:bodyPr>
          <a:lstStyle/>
          <a:p>
            <a:pPr algn="ctr"/>
            <a:r>
              <a:rPr lang="es-EC" dirty="0"/>
              <a:t>Semana 3</a:t>
            </a:r>
          </a:p>
        </p:txBody>
      </p:sp>
      <p:sp>
        <p:nvSpPr>
          <p:cNvPr id="76" name="CuadroTexto 75">
            <a:extLst>
              <a:ext uri="{FF2B5EF4-FFF2-40B4-BE49-F238E27FC236}">
                <a16:creationId xmlns:a16="http://schemas.microsoft.com/office/drawing/2014/main" id="{24CBC3AD-EC9C-4638-569C-F2656F748844}"/>
              </a:ext>
            </a:extLst>
          </p:cNvPr>
          <p:cNvSpPr txBox="1"/>
          <p:nvPr/>
        </p:nvSpPr>
        <p:spPr>
          <a:xfrm>
            <a:off x="5108871" y="3118708"/>
            <a:ext cx="1272545" cy="369332"/>
          </a:xfrm>
          <a:prstGeom prst="rect">
            <a:avLst/>
          </a:prstGeom>
          <a:noFill/>
        </p:spPr>
        <p:txBody>
          <a:bodyPr wrap="square" rtlCol="0">
            <a:spAutoFit/>
          </a:bodyPr>
          <a:lstStyle/>
          <a:p>
            <a:pPr algn="ctr"/>
            <a:r>
              <a:rPr lang="es-EC" dirty="0"/>
              <a:t>Semana 4</a:t>
            </a:r>
          </a:p>
        </p:txBody>
      </p:sp>
      <p:sp>
        <p:nvSpPr>
          <p:cNvPr id="77" name="Rectángulo 76">
            <a:extLst>
              <a:ext uri="{FF2B5EF4-FFF2-40B4-BE49-F238E27FC236}">
                <a16:creationId xmlns:a16="http://schemas.microsoft.com/office/drawing/2014/main" id="{DE146D84-F008-0373-5975-4FCBD8BC6FF2}"/>
              </a:ext>
            </a:extLst>
          </p:cNvPr>
          <p:cNvSpPr/>
          <p:nvPr/>
        </p:nvSpPr>
        <p:spPr>
          <a:xfrm>
            <a:off x="4349750" y="770429"/>
            <a:ext cx="2140256" cy="3209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s-EC" dirty="0"/>
              <a:t>SELECT GENERO </a:t>
            </a:r>
            <a:r>
              <a:rPr lang="es-EC" dirty="0">
                <a:latin typeface="Cambria Math" panose="02040503050406030204" pitchFamily="18" charset="0"/>
                <a:ea typeface="Cambria Math" panose="02040503050406030204" pitchFamily="18" charset="0"/>
              </a:rPr>
              <a:t>▼</a:t>
            </a:r>
            <a:endParaRPr lang="es-EC" dirty="0"/>
          </a:p>
        </p:txBody>
      </p:sp>
      <p:sp>
        <p:nvSpPr>
          <p:cNvPr id="78" name="Rectángulo 77">
            <a:extLst>
              <a:ext uri="{FF2B5EF4-FFF2-40B4-BE49-F238E27FC236}">
                <a16:creationId xmlns:a16="http://schemas.microsoft.com/office/drawing/2014/main" id="{7C3C8755-FB7E-9862-EE25-DB84A19B2C3D}"/>
              </a:ext>
            </a:extLst>
          </p:cNvPr>
          <p:cNvSpPr/>
          <p:nvPr/>
        </p:nvSpPr>
        <p:spPr>
          <a:xfrm>
            <a:off x="411991" y="7896530"/>
            <a:ext cx="6077415" cy="4683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TIEMPO vs GENERO</a:t>
            </a:r>
          </a:p>
        </p:txBody>
      </p:sp>
      <p:sp>
        <p:nvSpPr>
          <p:cNvPr id="79" name="Rectángulo 78">
            <a:extLst>
              <a:ext uri="{FF2B5EF4-FFF2-40B4-BE49-F238E27FC236}">
                <a16:creationId xmlns:a16="http://schemas.microsoft.com/office/drawing/2014/main" id="{B20EEB92-DB52-5A17-0574-8FE57BF3471C}"/>
              </a:ext>
            </a:extLst>
          </p:cNvPr>
          <p:cNvSpPr/>
          <p:nvPr/>
        </p:nvSpPr>
        <p:spPr>
          <a:xfrm>
            <a:off x="396038" y="8890185"/>
            <a:ext cx="6077413" cy="309842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81" name="Rectángulo 80">
            <a:extLst>
              <a:ext uri="{FF2B5EF4-FFF2-40B4-BE49-F238E27FC236}">
                <a16:creationId xmlns:a16="http://schemas.microsoft.com/office/drawing/2014/main" id="{41C4FD19-1DEF-756B-61BE-B6C6C729DB82}"/>
              </a:ext>
            </a:extLst>
          </p:cNvPr>
          <p:cNvSpPr/>
          <p:nvPr/>
        </p:nvSpPr>
        <p:spPr>
          <a:xfrm>
            <a:off x="4349148" y="8458478"/>
            <a:ext cx="2140256" cy="3209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s-EC" dirty="0"/>
              <a:t>SELECT SEMANA </a:t>
            </a:r>
            <a:r>
              <a:rPr lang="es-EC" dirty="0">
                <a:latin typeface="Cambria Math" panose="02040503050406030204" pitchFamily="18" charset="0"/>
                <a:ea typeface="Cambria Math" panose="02040503050406030204" pitchFamily="18" charset="0"/>
              </a:rPr>
              <a:t>▼</a:t>
            </a:r>
            <a:endParaRPr lang="es-EC" dirty="0"/>
          </a:p>
        </p:txBody>
      </p:sp>
      <p:cxnSp>
        <p:nvCxnSpPr>
          <p:cNvPr id="82" name="Conector recto de flecha 81">
            <a:extLst>
              <a:ext uri="{FF2B5EF4-FFF2-40B4-BE49-F238E27FC236}">
                <a16:creationId xmlns:a16="http://schemas.microsoft.com/office/drawing/2014/main" id="{E20B7971-AAED-FAB5-DC3B-E14154540C0B}"/>
              </a:ext>
            </a:extLst>
          </p:cNvPr>
          <p:cNvCxnSpPr>
            <a:cxnSpLocks/>
          </p:cNvCxnSpPr>
          <p:nvPr/>
        </p:nvCxnSpPr>
        <p:spPr>
          <a:xfrm flipV="1">
            <a:off x="1277626" y="8942570"/>
            <a:ext cx="0" cy="2984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3" name="Rectángulo 82">
            <a:extLst>
              <a:ext uri="{FF2B5EF4-FFF2-40B4-BE49-F238E27FC236}">
                <a16:creationId xmlns:a16="http://schemas.microsoft.com/office/drawing/2014/main" id="{187DB48B-7772-2247-F33C-E83176ADBFAE}"/>
              </a:ext>
            </a:extLst>
          </p:cNvPr>
          <p:cNvSpPr/>
          <p:nvPr/>
        </p:nvSpPr>
        <p:spPr>
          <a:xfrm>
            <a:off x="1406608" y="11784303"/>
            <a:ext cx="4670797" cy="3912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err="1"/>
              <a:t>generos</a:t>
            </a:r>
            <a:endParaRPr lang="es-EC" dirty="0"/>
          </a:p>
        </p:txBody>
      </p:sp>
      <p:sp>
        <p:nvSpPr>
          <p:cNvPr id="84" name="Rectángulo 83">
            <a:extLst>
              <a:ext uri="{FF2B5EF4-FFF2-40B4-BE49-F238E27FC236}">
                <a16:creationId xmlns:a16="http://schemas.microsoft.com/office/drawing/2014/main" id="{A539A7D7-494D-D20C-4CCE-642C09A01364}"/>
              </a:ext>
            </a:extLst>
          </p:cNvPr>
          <p:cNvSpPr/>
          <p:nvPr/>
        </p:nvSpPr>
        <p:spPr>
          <a:xfrm rot="16200000">
            <a:off x="489178" y="10964022"/>
            <a:ext cx="1200305" cy="2552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Mayor a 7</a:t>
            </a:r>
          </a:p>
        </p:txBody>
      </p:sp>
      <p:sp>
        <p:nvSpPr>
          <p:cNvPr id="85" name="Rectángulo 84">
            <a:extLst>
              <a:ext uri="{FF2B5EF4-FFF2-40B4-BE49-F238E27FC236}">
                <a16:creationId xmlns:a16="http://schemas.microsoft.com/office/drawing/2014/main" id="{3D0168CC-90AA-7704-9FFA-CC534A5AB750}"/>
              </a:ext>
            </a:extLst>
          </p:cNvPr>
          <p:cNvSpPr/>
          <p:nvPr/>
        </p:nvSpPr>
        <p:spPr>
          <a:xfrm rot="16200000">
            <a:off x="488614" y="9583582"/>
            <a:ext cx="1200305" cy="2552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Menor a 7</a:t>
            </a:r>
          </a:p>
        </p:txBody>
      </p:sp>
      <p:sp>
        <p:nvSpPr>
          <p:cNvPr id="86" name="Rectángulo 85">
            <a:extLst>
              <a:ext uri="{FF2B5EF4-FFF2-40B4-BE49-F238E27FC236}">
                <a16:creationId xmlns:a16="http://schemas.microsoft.com/office/drawing/2014/main" id="{7A423EE0-2C4F-9799-A836-D7179353609B}"/>
              </a:ext>
            </a:extLst>
          </p:cNvPr>
          <p:cNvSpPr/>
          <p:nvPr/>
        </p:nvSpPr>
        <p:spPr>
          <a:xfrm>
            <a:off x="1406608" y="10385247"/>
            <a:ext cx="788654" cy="136863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87" name="Rectángulo 86">
            <a:extLst>
              <a:ext uri="{FF2B5EF4-FFF2-40B4-BE49-F238E27FC236}">
                <a16:creationId xmlns:a16="http://schemas.microsoft.com/office/drawing/2014/main" id="{CC993810-B285-5ACC-AC69-0DED362AD8A3}"/>
              </a:ext>
            </a:extLst>
          </p:cNvPr>
          <p:cNvSpPr/>
          <p:nvPr/>
        </p:nvSpPr>
        <p:spPr>
          <a:xfrm>
            <a:off x="1406608" y="9468336"/>
            <a:ext cx="788654" cy="91691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88" name="Rectángulo 87">
            <a:extLst>
              <a:ext uri="{FF2B5EF4-FFF2-40B4-BE49-F238E27FC236}">
                <a16:creationId xmlns:a16="http://schemas.microsoft.com/office/drawing/2014/main" id="{653AF20F-7543-F608-5461-D373F1DC2399}"/>
              </a:ext>
            </a:extLst>
          </p:cNvPr>
          <p:cNvSpPr/>
          <p:nvPr/>
        </p:nvSpPr>
        <p:spPr>
          <a:xfrm>
            <a:off x="2515329" y="10607437"/>
            <a:ext cx="788654" cy="114644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89" name="Rectángulo 88">
            <a:extLst>
              <a:ext uri="{FF2B5EF4-FFF2-40B4-BE49-F238E27FC236}">
                <a16:creationId xmlns:a16="http://schemas.microsoft.com/office/drawing/2014/main" id="{8A772162-FCDC-CA43-5D0B-620659123FA0}"/>
              </a:ext>
            </a:extLst>
          </p:cNvPr>
          <p:cNvSpPr/>
          <p:nvPr/>
        </p:nvSpPr>
        <p:spPr>
          <a:xfrm>
            <a:off x="3760574" y="10092368"/>
            <a:ext cx="788654" cy="1661517"/>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90" name="Rectángulo 89">
            <a:extLst>
              <a:ext uri="{FF2B5EF4-FFF2-40B4-BE49-F238E27FC236}">
                <a16:creationId xmlns:a16="http://schemas.microsoft.com/office/drawing/2014/main" id="{696E5958-A7DD-1019-C1C1-60A74749D221}"/>
              </a:ext>
            </a:extLst>
          </p:cNvPr>
          <p:cNvSpPr/>
          <p:nvPr/>
        </p:nvSpPr>
        <p:spPr>
          <a:xfrm>
            <a:off x="5171851" y="10491518"/>
            <a:ext cx="788654" cy="1262367"/>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91" name="Rectángulo 90">
            <a:extLst>
              <a:ext uri="{FF2B5EF4-FFF2-40B4-BE49-F238E27FC236}">
                <a16:creationId xmlns:a16="http://schemas.microsoft.com/office/drawing/2014/main" id="{EC93D10C-262B-0EFD-9DBC-17893534C346}"/>
              </a:ext>
            </a:extLst>
          </p:cNvPr>
          <p:cNvSpPr/>
          <p:nvPr/>
        </p:nvSpPr>
        <p:spPr>
          <a:xfrm>
            <a:off x="2515329" y="9111078"/>
            <a:ext cx="788654" cy="149635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92" name="Rectángulo 91">
            <a:extLst>
              <a:ext uri="{FF2B5EF4-FFF2-40B4-BE49-F238E27FC236}">
                <a16:creationId xmlns:a16="http://schemas.microsoft.com/office/drawing/2014/main" id="{7D1EAA10-3B68-713B-F6DB-A4439A8F71BB}"/>
              </a:ext>
            </a:extLst>
          </p:cNvPr>
          <p:cNvSpPr/>
          <p:nvPr/>
        </p:nvSpPr>
        <p:spPr>
          <a:xfrm>
            <a:off x="3760574" y="9362065"/>
            <a:ext cx="788654" cy="73030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93" name="Rectángulo 92">
            <a:extLst>
              <a:ext uri="{FF2B5EF4-FFF2-40B4-BE49-F238E27FC236}">
                <a16:creationId xmlns:a16="http://schemas.microsoft.com/office/drawing/2014/main" id="{100CE893-729C-CB80-B72B-1B7E0349544A}"/>
              </a:ext>
            </a:extLst>
          </p:cNvPr>
          <p:cNvSpPr/>
          <p:nvPr/>
        </p:nvSpPr>
        <p:spPr>
          <a:xfrm>
            <a:off x="5171851" y="9111077"/>
            <a:ext cx="788654" cy="1380441"/>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94" name="Rectángulo 93">
            <a:extLst>
              <a:ext uri="{FF2B5EF4-FFF2-40B4-BE49-F238E27FC236}">
                <a16:creationId xmlns:a16="http://schemas.microsoft.com/office/drawing/2014/main" id="{58069D0C-1028-3465-565E-FAA6AF763EA0}"/>
              </a:ext>
            </a:extLst>
          </p:cNvPr>
          <p:cNvSpPr/>
          <p:nvPr/>
        </p:nvSpPr>
        <p:spPr>
          <a:xfrm rot="16200000">
            <a:off x="-353522" y="10087502"/>
            <a:ext cx="1711377" cy="4749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Conteo Estudiantes</a:t>
            </a:r>
          </a:p>
        </p:txBody>
      </p:sp>
      <p:cxnSp>
        <p:nvCxnSpPr>
          <p:cNvPr id="95" name="Conector recto de flecha 94">
            <a:extLst>
              <a:ext uri="{FF2B5EF4-FFF2-40B4-BE49-F238E27FC236}">
                <a16:creationId xmlns:a16="http://schemas.microsoft.com/office/drawing/2014/main" id="{901E83F4-7235-C7D0-5228-19DD0B190EE9}"/>
              </a:ext>
            </a:extLst>
          </p:cNvPr>
          <p:cNvCxnSpPr>
            <a:cxnSpLocks/>
          </p:cNvCxnSpPr>
          <p:nvPr/>
        </p:nvCxnSpPr>
        <p:spPr>
          <a:xfrm>
            <a:off x="847967" y="11753885"/>
            <a:ext cx="54937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84146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D18AB-FC9D-A39E-1BDE-9DEAD4475D09}"/>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09648E18-AC51-0DD7-220D-1F5F2E976AB8}"/>
              </a:ext>
            </a:extLst>
          </p:cNvPr>
          <p:cNvSpPr/>
          <p:nvPr/>
        </p:nvSpPr>
        <p:spPr>
          <a:xfrm>
            <a:off x="2954" y="-1"/>
            <a:ext cx="6855044" cy="1219200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 name="Rectángulo 3">
            <a:extLst>
              <a:ext uri="{FF2B5EF4-FFF2-40B4-BE49-F238E27FC236}">
                <a16:creationId xmlns:a16="http://schemas.microsoft.com/office/drawing/2014/main" id="{AA7EC779-1061-BE5C-71D4-AAE8C69199EE}"/>
              </a:ext>
            </a:extLst>
          </p:cNvPr>
          <p:cNvSpPr/>
          <p:nvPr/>
        </p:nvSpPr>
        <p:spPr>
          <a:xfrm>
            <a:off x="412595" y="223024"/>
            <a:ext cx="6077415" cy="4683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VIDEOS (recursos no obligatorios)</a:t>
            </a:r>
          </a:p>
        </p:txBody>
      </p:sp>
      <p:sp>
        <p:nvSpPr>
          <p:cNvPr id="3" name="Rectángulo 2">
            <a:extLst>
              <a:ext uri="{FF2B5EF4-FFF2-40B4-BE49-F238E27FC236}">
                <a16:creationId xmlns:a16="http://schemas.microsoft.com/office/drawing/2014/main" id="{7D88D0ED-94F9-2B93-C933-EBAA984317DC}"/>
              </a:ext>
            </a:extLst>
          </p:cNvPr>
          <p:cNvSpPr/>
          <p:nvPr/>
        </p:nvSpPr>
        <p:spPr>
          <a:xfrm>
            <a:off x="412593" y="1212146"/>
            <a:ext cx="6077413" cy="273762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p:cxnSp>
        <p:nvCxnSpPr>
          <p:cNvPr id="5" name="Conector recto de flecha 4">
            <a:extLst>
              <a:ext uri="{FF2B5EF4-FFF2-40B4-BE49-F238E27FC236}">
                <a16:creationId xmlns:a16="http://schemas.microsoft.com/office/drawing/2014/main" id="{490E32A4-B71C-9EF2-530E-48305E70672D}"/>
              </a:ext>
            </a:extLst>
          </p:cNvPr>
          <p:cNvCxnSpPr>
            <a:cxnSpLocks/>
          </p:cNvCxnSpPr>
          <p:nvPr/>
        </p:nvCxnSpPr>
        <p:spPr>
          <a:xfrm flipV="1">
            <a:off x="892096" y="1442030"/>
            <a:ext cx="0" cy="22418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Conector recto de flecha 5">
            <a:extLst>
              <a:ext uri="{FF2B5EF4-FFF2-40B4-BE49-F238E27FC236}">
                <a16:creationId xmlns:a16="http://schemas.microsoft.com/office/drawing/2014/main" id="{E35F6A94-9AFC-5F1C-21E7-993D86AA1EF6}"/>
              </a:ext>
            </a:extLst>
          </p:cNvPr>
          <p:cNvCxnSpPr>
            <a:cxnSpLocks/>
          </p:cNvCxnSpPr>
          <p:nvPr/>
        </p:nvCxnSpPr>
        <p:spPr>
          <a:xfrm>
            <a:off x="703800" y="3497696"/>
            <a:ext cx="54937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Rectángulo 6">
            <a:extLst>
              <a:ext uri="{FF2B5EF4-FFF2-40B4-BE49-F238E27FC236}">
                <a16:creationId xmlns:a16="http://schemas.microsoft.com/office/drawing/2014/main" id="{376B39E0-EED0-FA98-6D09-B6B928AEE5BA}"/>
              </a:ext>
            </a:extLst>
          </p:cNvPr>
          <p:cNvSpPr/>
          <p:nvPr/>
        </p:nvSpPr>
        <p:spPr>
          <a:xfrm>
            <a:off x="2711053" y="3528113"/>
            <a:ext cx="1711377" cy="3912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Nombre video</a:t>
            </a:r>
          </a:p>
        </p:txBody>
      </p:sp>
      <p:sp>
        <p:nvSpPr>
          <p:cNvPr id="8" name="Rectángulo 7">
            <a:extLst>
              <a:ext uri="{FF2B5EF4-FFF2-40B4-BE49-F238E27FC236}">
                <a16:creationId xmlns:a16="http://schemas.microsoft.com/office/drawing/2014/main" id="{F49C1CF5-14A5-0E9A-DB85-472B1FD317D2}"/>
              </a:ext>
            </a:extLst>
          </p:cNvPr>
          <p:cNvSpPr/>
          <p:nvPr/>
        </p:nvSpPr>
        <p:spPr>
          <a:xfrm rot="16200000">
            <a:off x="-135371" y="2440495"/>
            <a:ext cx="1711377" cy="2552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conteo</a:t>
            </a:r>
          </a:p>
        </p:txBody>
      </p:sp>
      <p:sp>
        <p:nvSpPr>
          <p:cNvPr id="18" name="Rectángulo 17">
            <a:extLst>
              <a:ext uri="{FF2B5EF4-FFF2-40B4-BE49-F238E27FC236}">
                <a16:creationId xmlns:a16="http://schemas.microsoft.com/office/drawing/2014/main" id="{DA182EFD-381A-C859-C997-6E1F3145B1C0}"/>
              </a:ext>
            </a:extLst>
          </p:cNvPr>
          <p:cNvSpPr/>
          <p:nvPr/>
        </p:nvSpPr>
        <p:spPr>
          <a:xfrm>
            <a:off x="4072870" y="770429"/>
            <a:ext cx="2417136" cy="3180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s-EC" dirty="0"/>
              <a:t>SELECT </a:t>
            </a:r>
            <a:r>
              <a:rPr lang="es-EC" dirty="0" err="1"/>
              <a:t>interaccion</a:t>
            </a:r>
            <a:r>
              <a:rPr lang="es-EC" dirty="0"/>
              <a:t> </a:t>
            </a:r>
            <a:r>
              <a:rPr lang="es-EC" dirty="0">
                <a:latin typeface="Cambria Math" panose="02040503050406030204" pitchFamily="18" charset="0"/>
                <a:ea typeface="Cambria Math" panose="02040503050406030204" pitchFamily="18" charset="0"/>
              </a:rPr>
              <a:t>▼</a:t>
            </a:r>
            <a:endParaRPr lang="es-EC" dirty="0"/>
          </a:p>
        </p:txBody>
      </p:sp>
      <p:sp>
        <p:nvSpPr>
          <p:cNvPr id="19" name="Rectángulo 18">
            <a:extLst>
              <a:ext uri="{FF2B5EF4-FFF2-40B4-BE49-F238E27FC236}">
                <a16:creationId xmlns:a16="http://schemas.microsoft.com/office/drawing/2014/main" id="{F4EBF5B3-C62A-43CF-174F-BBEA970376BC}"/>
              </a:ext>
            </a:extLst>
          </p:cNvPr>
          <p:cNvSpPr/>
          <p:nvPr/>
        </p:nvSpPr>
        <p:spPr>
          <a:xfrm>
            <a:off x="1003300" y="1442030"/>
            <a:ext cx="254302" cy="205565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0" name="Rectángulo 19">
            <a:extLst>
              <a:ext uri="{FF2B5EF4-FFF2-40B4-BE49-F238E27FC236}">
                <a16:creationId xmlns:a16="http://schemas.microsoft.com/office/drawing/2014/main" id="{CC8AC73D-5224-C7C9-BCC3-F12D8AAA491D}"/>
              </a:ext>
            </a:extLst>
          </p:cNvPr>
          <p:cNvSpPr/>
          <p:nvPr/>
        </p:nvSpPr>
        <p:spPr>
          <a:xfrm>
            <a:off x="1356407" y="1903523"/>
            <a:ext cx="254302" cy="1594164"/>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1" name="Rectángulo 20">
            <a:extLst>
              <a:ext uri="{FF2B5EF4-FFF2-40B4-BE49-F238E27FC236}">
                <a16:creationId xmlns:a16="http://schemas.microsoft.com/office/drawing/2014/main" id="{4B6B2E63-4D64-567D-5D7F-516DBC2C5614}"/>
              </a:ext>
            </a:extLst>
          </p:cNvPr>
          <p:cNvSpPr/>
          <p:nvPr/>
        </p:nvSpPr>
        <p:spPr>
          <a:xfrm>
            <a:off x="1766046" y="1543050"/>
            <a:ext cx="254302" cy="195463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2" name="Rectángulo 21">
            <a:extLst>
              <a:ext uri="{FF2B5EF4-FFF2-40B4-BE49-F238E27FC236}">
                <a16:creationId xmlns:a16="http://schemas.microsoft.com/office/drawing/2014/main" id="{3A665AA0-4251-66D8-AAB5-9301A5720571}"/>
              </a:ext>
            </a:extLst>
          </p:cNvPr>
          <p:cNvSpPr/>
          <p:nvPr/>
        </p:nvSpPr>
        <p:spPr>
          <a:xfrm>
            <a:off x="2184404" y="1644650"/>
            <a:ext cx="254302" cy="185303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3" name="Rectángulo 22">
            <a:extLst>
              <a:ext uri="{FF2B5EF4-FFF2-40B4-BE49-F238E27FC236}">
                <a16:creationId xmlns:a16="http://schemas.microsoft.com/office/drawing/2014/main" id="{9B0B8517-43AD-FB8D-E738-573E1392E56C}"/>
              </a:ext>
            </a:extLst>
          </p:cNvPr>
          <p:cNvSpPr/>
          <p:nvPr/>
        </p:nvSpPr>
        <p:spPr>
          <a:xfrm>
            <a:off x="2594043" y="3149600"/>
            <a:ext cx="254302" cy="34808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4" name="Rectángulo 23">
            <a:extLst>
              <a:ext uri="{FF2B5EF4-FFF2-40B4-BE49-F238E27FC236}">
                <a16:creationId xmlns:a16="http://schemas.microsoft.com/office/drawing/2014/main" id="{13D16428-2B71-619C-FF56-051D05BFFBAD}"/>
              </a:ext>
            </a:extLst>
          </p:cNvPr>
          <p:cNvSpPr/>
          <p:nvPr/>
        </p:nvSpPr>
        <p:spPr>
          <a:xfrm>
            <a:off x="2950884" y="2279650"/>
            <a:ext cx="254302" cy="121803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6" name="Rectángulo 25">
            <a:extLst>
              <a:ext uri="{FF2B5EF4-FFF2-40B4-BE49-F238E27FC236}">
                <a16:creationId xmlns:a16="http://schemas.microsoft.com/office/drawing/2014/main" id="{25D6ECA7-94FE-2683-C6C6-65B0456EBFF0}"/>
              </a:ext>
            </a:extLst>
          </p:cNvPr>
          <p:cNvSpPr/>
          <p:nvPr/>
        </p:nvSpPr>
        <p:spPr>
          <a:xfrm>
            <a:off x="3374988" y="1442030"/>
            <a:ext cx="254302" cy="205565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7" name="Rectángulo 26">
            <a:extLst>
              <a:ext uri="{FF2B5EF4-FFF2-40B4-BE49-F238E27FC236}">
                <a16:creationId xmlns:a16="http://schemas.microsoft.com/office/drawing/2014/main" id="{116A48FB-9464-CAEC-F144-3A82A29925FE}"/>
              </a:ext>
            </a:extLst>
          </p:cNvPr>
          <p:cNvSpPr/>
          <p:nvPr/>
        </p:nvSpPr>
        <p:spPr>
          <a:xfrm>
            <a:off x="3751046" y="1543050"/>
            <a:ext cx="254302" cy="195463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8" name="Rectángulo 27">
            <a:extLst>
              <a:ext uri="{FF2B5EF4-FFF2-40B4-BE49-F238E27FC236}">
                <a16:creationId xmlns:a16="http://schemas.microsoft.com/office/drawing/2014/main" id="{B845157A-C0BB-02A1-0F80-F52B75887BB3}"/>
              </a:ext>
            </a:extLst>
          </p:cNvPr>
          <p:cNvSpPr/>
          <p:nvPr/>
        </p:nvSpPr>
        <p:spPr>
          <a:xfrm>
            <a:off x="4144957" y="1543050"/>
            <a:ext cx="254302" cy="195463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9" name="Rectángulo 28">
            <a:extLst>
              <a:ext uri="{FF2B5EF4-FFF2-40B4-BE49-F238E27FC236}">
                <a16:creationId xmlns:a16="http://schemas.microsoft.com/office/drawing/2014/main" id="{4B92C26E-96BE-A21C-EA04-1695D0BF6666}"/>
              </a:ext>
            </a:extLst>
          </p:cNvPr>
          <p:cNvSpPr/>
          <p:nvPr/>
        </p:nvSpPr>
        <p:spPr>
          <a:xfrm>
            <a:off x="4538868" y="1974850"/>
            <a:ext cx="254302" cy="152283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0" name="Rectángulo 29">
            <a:extLst>
              <a:ext uri="{FF2B5EF4-FFF2-40B4-BE49-F238E27FC236}">
                <a16:creationId xmlns:a16="http://schemas.microsoft.com/office/drawing/2014/main" id="{E902C6D0-D1CF-8B9F-7841-EBE25D092CB7}"/>
              </a:ext>
            </a:extLst>
          </p:cNvPr>
          <p:cNvSpPr/>
          <p:nvPr/>
        </p:nvSpPr>
        <p:spPr>
          <a:xfrm>
            <a:off x="4923570" y="1944433"/>
            <a:ext cx="254302" cy="1553253"/>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1" name="Rectángulo 30">
            <a:extLst>
              <a:ext uri="{FF2B5EF4-FFF2-40B4-BE49-F238E27FC236}">
                <a16:creationId xmlns:a16="http://schemas.microsoft.com/office/drawing/2014/main" id="{27AAD5F0-03F8-267B-5B3F-8B7D0BE6E63C}"/>
              </a:ext>
            </a:extLst>
          </p:cNvPr>
          <p:cNvSpPr/>
          <p:nvPr/>
        </p:nvSpPr>
        <p:spPr>
          <a:xfrm>
            <a:off x="5260135" y="1712455"/>
            <a:ext cx="254302" cy="178523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2" name="Rectángulo 31">
            <a:extLst>
              <a:ext uri="{FF2B5EF4-FFF2-40B4-BE49-F238E27FC236}">
                <a16:creationId xmlns:a16="http://schemas.microsoft.com/office/drawing/2014/main" id="{972583C7-05BC-CCAF-57F5-D7A317720CF7}"/>
              </a:ext>
            </a:extLst>
          </p:cNvPr>
          <p:cNvSpPr/>
          <p:nvPr/>
        </p:nvSpPr>
        <p:spPr>
          <a:xfrm>
            <a:off x="5596700" y="3194052"/>
            <a:ext cx="254302" cy="303634"/>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3" name="Rectángulo 32">
            <a:extLst>
              <a:ext uri="{FF2B5EF4-FFF2-40B4-BE49-F238E27FC236}">
                <a16:creationId xmlns:a16="http://schemas.microsoft.com/office/drawing/2014/main" id="{CCC89410-5C2B-DD6E-C7E7-40C236B0F34A}"/>
              </a:ext>
            </a:extLst>
          </p:cNvPr>
          <p:cNvSpPr/>
          <p:nvPr/>
        </p:nvSpPr>
        <p:spPr>
          <a:xfrm>
            <a:off x="1168274" y="4096838"/>
            <a:ext cx="4566052" cy="4683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Los 75 estudiantes con mas </a:t>
            </a:r>
            <a:r>
              <a:rPr lang="es-EC" dirty="0" err="1"/>
              <a:t>plays</a:t>
            </a:r>
            <a:r>
              <a:rPr lang="es-EC" dirty="0"/>
              <a:t> por video junto a si aprobaron o no el curso</a:t>
            </a:r>
          </a:p>
        </p:txBody>
      </p:sp>
      <p:sp>
        <p:nvSpPr>
          <p:cNvPr id="34" name="Rectángulo 33">
            <a:extLst>
              <a:ext uri="{FF2B5EF4-FFF2-40B4-BE49-F238E27FC236}">
                <a16:creationId xmlns:a16="http://schemas.microsoft.com/office/drawing/2014/main" id="{1EF30FD3-4EFD-22C4-23E0-EE973E30BE4D}"/>
              </a:ext>
            </a:extLst>
          </p:cNvPr>
          <p:cNvSpPr/>
          <p:nvPr/>
        </p:nvSpPr>
        <p:spPr>
          <a:xfrm>
            <a:off x="4072870" y="4682058"/>
            <a:ext cx="2417136" cy="3180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s-EC" dirty="0"/>
              <a:t>SELECT video </a:t>
            </a:r>
            <a:r>
              <a:rPr lang="es-EC" dirty="0">
                <a:latin typeface="Cambria Math" panose="02040503050406030204" pitchFamily="18" charset="0"/>
                <a:ea typeface="Cambria Math" panose="02040503050406030204" pitchFamily="18" charset="0"/>
              </a:rPr>
              <a:t>▼</a:t>
            </a:r>
            <a:endParaRPr lang="es-EC" dirty="0"/>
          </a:p>
        </p:txBody>
      </p:sp>
      <p:sp>
        <p:nvSpPr>
          <p:cNvPr id="35" name="Rectángulo 34">
            <a:extLst>
              <a:ext uri="{FF2B5EF4-FFF2-40B4-BE49-F238E27FC236}">
                <a16:creationId xmlns:a16="http://schemas.microsoft.com/office/drawing/2014/main" id="{A69E670C-BD39-211E-4774-38794784C48D}"/>
              </a:ext>
            </a:extLst>
          </p:cNvPr>
          <p:cNvSpPr/>
          <p:nvPr/>
        </p:nvSpPr>
        <p:spPr>
          <a:xfrm>
            <a:off x="412593" y="5131987"/>
            <a:ext cx="6077413" cy="273762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p:cxnSp>
        <p:nvCxnSpPr>
          <p:cNvPr id="36" name="Conector recto de flecha 35">
            <a:extLst>
              <a:ext uri="{FF2B5EF4-FFF2-40B4-BE49-F238E27FC236}">
                <a16:creationId xmlns:a16="http://schemas.microsoft.com/office/drawing/2014/main" id="{516D65CB-B8B9-A294-A2B8-C1AEFA990CB0}"/>
              </a:ext>
            </a:extLst>
          </p:cNvPr>
          <p:cNvCxnSpPr>
            <a:cxnSpLocks/>
          </p:cNvCxnSpPr>
          <p:nvPr/>
        </p:nvCxnSpPr>
        <p:spPr>
          <a:xfrm flipV="1">
            <a:off x="892096" y="5361871"/>
            <a:ext cx="0" cy="22418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Conector recto de flecha 36">
            <a:extLst>
              <a:ext uri="{FF2B5EF4-FFF2-40B4-BE49-F238E27FC236}">
                <a16:creationId xmlns:a16="http://schemas.microsoft.com/office/drawing/2014/main" id="{70CD78ED-575D-3D96-BBDB-816A2D1482DA}"/>
              </a:ext>
            </a:extLst>
          </p:cNvPr>
          <p:cNvCxnSpPr>
            <a:cxnSpLocks/>
          </p:cNvCxnSpPr>
          <p:nvPr/>
        </p:nvCxnSpPr>
        <p:spPr>
          <a:xfrm>
            <a:off x="703800" y="7417537"/>
            <a:ext cx="54937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Rectángulo 37">
            <a:extLst>
              <a:ext uri="{FF2B5EF4-FFF2-40B4-BE49-F238E27FC236}">
                <a16:creationId xmlns:a16="http://schemas.microsoft.com/office/drawing/2014/main" id="{635341E8-B49B-94EB-0A6D-80C1707E7F5A}"/>
              </a:ext>
            </a:extLst>
          </p:cNvPr>
          <p:cNvSpPr/>
          <p:nvPr/>
        </p:nvSpPr>
        <p:spPr>
          <a:xfrm>
            <a:off x="2560731" y="7451140"/>
            <a:ext cx="1711377" cy="3912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estudiante</a:t>
            </a:r>
          </a:p>
        </p:txBody>
      </p:sp>
      <p:sp>
        <p:nvSpPr>
          <p:cNvPr id="39" name="Rectángulo 38">
            <a:extLst>
              <a:ext uri="{FF2B5EF4-FFF2-40B4-BE49-F238E27FC236}">
                <a16:creationId xmlns:a16="http://schemas.microsoft.com/office/drawing/2014/main" id="{B1C90012-C681-53F2-0074-EB481ED59ADB}"/>
              </a:ext>
            </a:extLst>
          </p:cNvPr>
          <p:cNvSpPr/>
          <p:nvPr/>
        </p:nvSpPr>
        <p:spPr>
          <a:xfrm rot="16200000">
            <a:off x="-135371" y="6360336"/>
            <a:ext cx="1711377" cy="2552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Conteo </a:t>
            </a:r>
            <a:r>
              <a:rPr lang="es-EC" dirty="0" err="1"/>
              <a:t>plays</a:t>
            </a:r>
            <a:endParaRPr lang="es-EC" dirty="0"/>
          </a:p>
        </p:txBody>
      </p:sp>
      <p:sp>
        <p:nvSpPr>
          <p:cNvPr id="40" name="Rectángulo 39">
            <a:extLst>
              <a:ext uri="{FF2B5EF4-FFF2-40B4-BE49-F238E27FC236}">
                <a16:creationId xmlns:a16="http://schemas.microsoft.com/office/drawing/2014/main" id="{F9162479-C060-4534-2B13-4017CC7DC69F}"/>
              </a:ext>
            </a:extLst>
          </p:cNvPr>
          <p:cNvSpPr/>
          <p:nvPr/>
        </p:nvSpPr>
        <p:spPr>
          <a:xfrm>
            <a:off x="1003300" y="5361871"/>
            <a:ext cx="254302" cy="205565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41" name="Rectángulo 40">
            <a:extLst>
              <a:ext uri="{FF2B5EF4-FFF2-40B4-BE49-F238E27FC236}">
                <a16:creationId xmlns:a16="http://schemas.microsoft.com/office/drawing/2014/main" id="{998E27F9-799E-C1F9-A12A-B322D05824E4}"/>
              </a:ext>
            </a:extLst>
          </p:cNvPr>
          <p:cNvSpPr/>
          <p:nvPr/>
        </p:nvSpPr>
        <p:spPr>
          <a:xfrm>
            <a:off x="1356407" y="5425444"/>
            <a:ext cx="254302" cy="1992084"/>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42" name="Rectángulo 41">
            <a:extLst>
              <a:ext uri="{FF2B5EF4-FFF2-40B4-BE49-F238E27FC236}">
                <a16:creationId xmlns:a16="http://schemas.microsoft.com/office/drawing/2014/main" id="{634A3E4C-BED2-0711-10A7-75175C2626E0}"/>
              </a:ext>
            </a:extLst>
          </p:cNvPr>
          <p:cNvSpPr/>
          <p:nvPr/>
        </p:nvSpPr>
        <p:spPr>
          <a:xfrm>
            <a:off x="1766046" y="5462891"/>
            <a:ext cx="254302" cy="195463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43" name="Rectángulo 42">
            <a:extLst>
              <a:ext uri="{FF2B5EF4-FFF2-40B4-BE49-F238E27FC236}">
                <a16:creationId xmlns:a16="http://schemas.microsoft.com/office/drawing/2014/main" id="{57EBE6AA-AEE1-9331-5610-5D7FDB8972B6}"/>
              </a:ext>
            </a:extLst>
          </p:cNvPr>
          <p:cNvSpPr/>
          <p:nvPr/>
        </p:nvSpPr>
        <p:spPr>
          <a:xfrm>
            <a:off x="2184404" y="5564491"/>
            <a:ext cx="254302" cy="18530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44" name="Rectángulo 43">
            <a:extLst>
              <a:ext uri="{FF2B5EF4-FFF2-40B4-BE49-F238E27FC236}">
                <a16:creationId xmlns:a16="http://schemas.microsoft.com/office/drawing/2014/main" id="{1EA5E6EE-7898-CF45-381F-F26BC1D17D3F}"/>
              </a:ext>
            </a:extLst>
          </p:cNvPr>
          <p:cNvSpPr/>
          <p:nvPr/>
        </p:nvSpPr>
        <p:spPr>
          <a:xfrm>
            <a:off x="2594043" y="5632297"/>
            <a:ext cx="254302" cy="17852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45" name="Rectángulo 44">
            <a:extLst>
              <a:ext uri="{FF2B5EF4-FFF2-40B4-BE49-F238E27FC236}">
                <a16:creationId xmlns:a16="http://schemas.microsoft.com/office/drawing/2014/main" id="{A2D03E9B-6131-3F1A-877E-7772ABDA1376}"/>
              </a:ext>
            </a:extLst>
          </p:cNvPr>
          <p:cNvSpPr/>
          <p:nvPr/>
        </p:nvSpPr>
        <p:spPr>
          <a:xfrm>
            <a:off x="2950884" y="5783237"/>
            <a:ext cx="254302" cy="163429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46" name="Rectángulo 45">
            <a:extLst>
              <a:ext uri="{FF2B5EF4-FFF2-40B4-BE49-F238E27FC236}">
                <a16:creationId xmlns:a16="http://schemas.microsoft.com/office/drawing/2014/main" id="{B48EE029-2622-DEBE-0BDD-040CC20050A9}"/>
              </a:ext>
            </a:extLst>
          </p:cNvPr>
          <p:cNvSpPr/>
          <p:nvPr/>
        </p:nvSpPr>
        <p:spPr>
          <a:xfrm>
            <a:off x="3374988" y="5864274"/>
            <a:ext cx="254302" cy="1553254"/>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47" name="Rectángulo 46">
            <a:extLst>
              <a:ext uri="{FF2B5EF4-FFF2-40B4-BE49-F238E27FC236}">
                <a16:creationId xmlns:a16="http://schemas.microsoft.com/office/drawing/2014/main" id="{3FA567F9-11D8-35B7-56CE-D4E723063DEE}"/>
              </a:ext>
            </a:extLst>
          </p:cNvPr>
          <p:cNvSpPr/>
          <p:nvPr/>
        </p:nvSpPr>
        <p:spPr>
          <a:xfrm>
            <a:off x="3751046" y="5975021"/>
            <a:ext cx="254302" cy="144250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80" name="Rectángulo 79">
            <a:extLst>
              <a:ext uri="{FF2B5EF4-FFF2-40B4-BE49-F238E27FC236}">
                <a16:creationId xmlns:a16="http://schemas.microsoft.com/office/drawing/2014/main" id="{8B26E553-7ECD-3B02-2659-DB06D0D539A9}"/>
              </a:ext>
            </a:extLst>
          </p:cNvPr>
          <p:cNvSpPr/>
          <p:nvPr/>
        </p:nvSpPr>
        <p:spPr>
          <a:xfrm>
            <a:off x="4144957" y="6096000"/>
            <a:ext cx="254302" cy="13215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96" name="Rectángulo 95">
            <a:extLst>
              <a:ext uri="{FF2B5EF4-FFF2-40B4-BE49-F238E27FC236}">
                <a16:creationId xmlns:a16="http://schemas.microsoft.com/office/drawing/2014/main" id="{362E8665-9487-93BE-B152-64B303CF7EB9}"/>
              </a:ext>
            </a:extLst>
          </p:cNvPr>
          <p:cNvSpPr/>
          <p:nvPr/>
        </p:nvSpPr>
        <p:spPr>
          <a:xfrm>
            <a:off x="4538868" y="6182357"/>
            <a:ext cx="254302" cy="123517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97" name="Rectángulo 96">
            <a:extLst>
              <a:ext uri="{FF2B5EF4-FFF2-40B4-BE49-F238E27FC236}">
                <a16:creationId xmlns:a16="http://schemas.microsoft.com/office/drawing/2014/main" id="{9FF0444C-41C7-BA9D-E404-F7AADDB9DC60}"/>
              </a:ext>
            </a:extLst>
          </p:cNvPr>
          <p:cNvSpPr/>
          <p:nvPr/>
        </p:nvSpPr>
        <p:spPr>
          <a:xfrm>
            <a:off x="4923570" y="6235321"/>
            <a:ext cx="254302" cy="118220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98" name="Rectángulo 97">
            <a:extLst>
              <a:ext uri="{FF2B5EF4-FFF2-40B4-BE49-F238E27FC236}">
                <a16:creationId xmlns:a16="http://schemas.microsoft.com/office/drawing/2014/main" id="{DCFD1595-A3BD-C2B2-9F5A-A15008B7AF28}"/>
              </a:ext>
            </a:extLst>
          </p:cNvPr>
          <p:cNvSpPr/>
          <p:nvPr/>
        </p:nvSpPr>
        <p:spPr>
          <a:xfrm>
            <a:off x="5260135" y="6329682"/>
            <a:ext cx="254302" cy="10878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99" name="Rectángulo 98">
            <a:extLst>
              <a:ext uri="{FF2B5EF4-FFF2-40B4-BE49-F238E27FC236}">
                <a16:creationId xmlns:a16="http://schemas.microsoft.com/office/drawing/2014/main" id="{8B7B895D-868B-5280-1CD4-9729059C304D}"/>
              </a:ext>
            </a:extLst>
          </p:cNvPr>
          <p:cNvSpPr/>
          <p:nvPr/>
        </p:nvSpPr>
        <p:spPr>
          <a:xfrm>
            <a:off x="5596700" y="7113893"/>
            <a:ext cx="254302" cy="30363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00" name="Rectángulo 99">
            <a:extLst>
              <a:ext uri="{FF2B5EF4-FFF2-40B4-BE49-F238E27FC236}">
                <a16:creationId xmlns:a16="http://schemas.microsoft.com/office/drawing/2014/main" id="{BA4BA76E-E4F2-08DA-3423-8841E91C6A7C}"/>
              </a:ext>
            </a:extLst>
          </p:cNvPr>
          <p:cNvSpPr/>
          <p:nvPr/>
        </p:nvSpPr>
        <p:spPr>
          <a:xfrm>
            <a:off x="4959955" y="5252421"/>
            <a:ext cx="218900" cy="2189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01" name="Rectángulo 100">
            <a:extLst>
              <a:ext uri="{FF2B5EF4-FFF2-40B4-BE49-F238E27FC236}">
                <a16:creationId xmlns:a16="http://schemas.microsoft.com/office/drawing/2014/main" id="{9158E801-BBEC-DCFA-5932-740546A27959}"/>
              </a:ext>
            </a:extLst>
          </p:cNvPr>
          <p:cNvSpPr/>
          <p:nvPr/>
        </p:nvSpPr>
        <p:spPr>
          <a:xfrm>
            <a:off x="4959955" y="5587908"/>
            <a:ext cx="218900" cy="2189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02" name="Rectángulo 101">
            <a:extLst>
              <a:ext uri="{FF2B5EF4-FFF2-40B4-BE49-F238E27FC236}">
                <a16:creationId xmlns:a16="http://schemas.microsoft.com/office/drawing/2014/main" id="{A939F062-50F8-D8CD-8E4F-007F2C43336D}"/>
              </a:ext>
            </a:extLst>
          </p:cNvPr>
          <p:cNvSpPr/>
          <p:nvPr/>
        </p:nvSpPr>
        <p:spPr>
          <a:xfrm>
            <a:off x="5177872" y="5252421"/>
            <a:ext cx="1177208" cy="2189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s-EC" dirty="0"/>
              <a:t>aprobado</a:t>
            </a:r>
          </a:p>
        </p:txBody>
      </p:sp>
      <p:sp>
        <p:nvSpPr>
          <p:cNvPr id="103" name="Rectángulo 102">
            <a:extLst>
              <a:ext uri="{FF2B5EF4-FFF2-40B4-BE49-F238E27FC236}">
                <a16:creationId xmlns:a16="http://schemas.microsoft.com/office/drawing/2014/main" id="{9E163BF9-5BA3-3212-E4CA-35BA79CD1EC8}"/>
              </a:ext>
            </a:extLst>
          </p:cNvPr>
          <p:cNvSpPr/>
          <p:nvPr/>
        </p:nvSpPr>
        <p:spPr>
          <a:xfrm>
            <a:off x="5145722" y="5602527"/>
            <a:ext cx="1255078" cy="2189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s-EC" dirty="0"/>
              <a:t>reprobado</a:t>
            </a:r>
          </a:p>
        </p:txBody>
      </p:sp>
      <p:sp>
        <p:nvSpPr>
          <p:cNvPr id="104" name="Rectángulo: esquina doblada 103">
            <a:extLst>
              <a:ext uri="{FF2B5EF4-FFF2-40B4-BE49-F238E27FC236}">
                <a16:creationId xmlns:a16="http://schemas.microsoft.com/office/drawing/2014/main" id="{2B12A098-8D05-CDEF-6FED-16872AA709C7}"/>
              </a:ext>
            </a:extLst>
          </p:cNvPr>
          <p:cNvSpPr/>
          <p:nvPr/>
        </p:nvSpPr>
        <p:spPr>
          <a:xfrm>
            <a:off x="7061960" y="2437662"/>
            <a:ext cx="4343400" cy="7074718"/>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Claro, esto es raro, pero nos permitiría ver aquellos videos que pudieron influir en la aprobación o reprobación del curso. No como el único factor, si no como uno posible. A que voy con esto? Bueno, si es que un video tiene mas aprobados que reprobados es buena señal. Pero claro, aquí solo se muestran los 40 primeros, este análisis seria mejor si es que en la parte de abajo mostramos números.</a:t>
            </a:r>
          </a:p>
          <a:p>
            <a:pPr algn="ctr"/>
            <a:r>
              <a:rPr lang="es-EC" dirty="0"/>
              <a:t>Entonces en que nos ayuda la grafica de arriba? Bueno ahí podemos ver que videos fueron mas reproducidos y cuales no. Claro, esto nos da una idea de que no necesariamente el que mas fue reproducido fue el mas bueno, si no que capaz y es poco claro. En cambio, aquellos que tienen menos </a:t>
            </a:r>
            <a:r>
              <a:rPr lang="es-EC" dirty="0" err="1"/>
              <a:t>plays</a:t>
            </a:r>
            <a:r>
              <a:rPr lang="es-EC" dirty="0"/>
              <a:t>, pero mas numero de aprobados pues son claros y PUEDE que hayan ayudado a los estudiantes.</a:t>
            </a:r>
          </a:p>
        </p:txBody>
      </p:sp>
      <p:sp>
        <p:nvSpPr>
          <p:cNvPr id="105" name="Rectángulo 104">
            <a:extLst>
              <a:ext uri="{FF2B5EF4-FFF2-40B4-BE49-F238E27FC236}">
                <a16:creationId xmlns:a16="http://schemas.microsoft.com/office/drawing/2014/main" id="{479110BE-2CA9-1758-D579-92C3E204B9EE}"/>
              </a:ext>
            </a:extLst>
          </p:cNvPr>
          <p:cNvSpPr/>
          <p:nvPr/>
        </p:nvSpPr>
        <p:spPr>
          <a:xfrm>
            <a:off x="688839" y="7959791"/>
            <a:ext cx="5524921" cy="936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Numero de personas que vieron este video (300) y:</a:t>
            </a:r>
          </a:p>
          <a:p>
            <a:pPr algn="ctr"/>
            <a:r>
              <a:rPr lang="es-EC" dirty="0"/>
              <a:t>Aprobaron: 100</a:t>
            </a:r>
          </a:p>
          <a:p>
            <a:pPr algn="ctr"/>
            <a:r>
              <a:rPr lang="es-EC" dirty="0"/>
              <a:t>Reprobaron: 200</a:t>
            </a:r>
          </a:p>
        </p:txBody>
      </p:sp>
    </p:spTree>
    <p:extLst>
      <p:ext uri="{BB962C8B-B14F-4D97-AF65-F5344CB8AC3E}">
        <p14:creationId xmlns:p14="http://schemas.microsoft.com/office/powerpoint/2010/main" val="2877567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6827F-BAEC-7EAB-45AF-43270C4F956D}"/>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5498F1B-9C98-05FE-0EF5-6F367D5FA263}"/>
              </a:ext>
            </a:extLst>
          </p:cNvPr>
          <p:cNvSpPr/>
          <p:nvPr/>
        </p:nvSpPr>
        <p:spPr>
          <a:xfrm>
            <a:off x="2954" y="-1"/>
            <a:ext cx="6855044" cy="1219200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4" name="Rectángulo 3">
            <a:extLst>
              <a:ext uri="{FF2B5EF4-FFF2-40B4-BE49-F238E27FC236}">
                <a16:creationId xmlns:a16="http://schemas.microsoft.com/office/drawing/2014/main" id="{72063618-805B-1352-3B21-2F3DC17C12B7}"/>
              </a:ext>
            </a:extLst>
          </p:cNvPr>
          <p:cNvSpPr/>
          <p:nvPr/>
        </p:nvSpPr>
        <p:spPr>
          <a:xfrm>
            <a:off x="412595" y="223024"/>
            <a:ext cx="6077415" cy="4683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VIDEOS y ESTUDIANTES</a:t>
            </a:r>
          </a:p>
        </p:txBody>
      </p:sp>
      <p:sp>
        <p:nvSpPr>
          <p:cNvPr id="33" name="Rectángulo 32">
            <a:extLst>
              <a:ext uri="{FF2B5EF4-FFF2-40B4-BE49-F238E27FC236}">
                <a16:creationId xmlns:a16="http://schemas.microsoft.com/office/drawing/2014/main" id="{81900565-7939-0771-575C-89534F4588E2}"/>
              </a:ext>
            </a:extLst>
          </p:cNvPr>
          <p:cNvSpPr/>
          <p:nvPr/>
        </p:nvSpPr>
        <p:spPr>
          <a:xfrm>
            <a:off x="1143492" y="822582"/>
            <a:ext cx="4566052" cy="4683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Los estudiantes que aprobaron y reprobaron y cuantos videos vieron en total</a:t>
            </a:r>
          </a:p>
        </p:txBody>
      </p:sp>
      <p:sp>
        <p:nvSpPr>
          <p:cNvPr id="104" name="Rectángulo: esquina doblada 103">
            <a:extLst>
              <a:ext uri="{FF2B5EF4-FFF2-40B4-BE49-F238E27FC236}">
                <a16:creationId xmlns:a16="http://schemas.microsoft.com/office/drawing/2014/main" id="{93F6BE5F-05E3-D959-A669-FB44BCC86863}"/>
              </a:ext>
            </a:extLst>
          </p:cNvPr>
          <p:cNvSpPr/>
          <p:nvPr/>
        </p:nvSpPr>
        <p:spPr>
          <a:xfrm>
            <a:off x="7061960" y="2437662"/>
            <a:ext cx="4343400" cy="7074718"/>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Claro, esto es raro, pero nos permitiría ver aquellos videos que pudieron influir en la aprobación o reprobación del curso. No como el único factor, si no como uno posible. A que voy con esto? Bueno, si es que un video tiene mas aprobados que reprobados es buena señal. Pero claro, aquí solo se muestran los 40 primeros, este análisis seria mejor si es que en la parte de abajo mostramos números.</a:t>
            </a:r>
          </a:p>
          <a:p>
            <a:pPr algn="ctr"/>
            <a:r>
              <a:rPr lang="es-EC" dirty="0"/>
              <a:t>Entonces en que nos ayuda la grafica de arriba? Bueno ahí podemos ver que videos fueron mas reproducidos y cuales no. Claro, esto nos da una idea de que no necesariamente el que mas fue reproducido fue el mas bueno, si no que capaz y es poco claro. En cambio, aquellos que tienen menos </a:t>
            </a:r>
            <a:r>
              <a:rPr lang="es-EC" dirty="0" err="1"/>
              <a:t>plays</a:t>
            </a:r>
            <a:r>
              <a:rPr lang="es-EC" dirty="0"/>
              <a:t>, pero mas numero de aprobados pues son claros y PUEDE que hayan ayudado a los estudiantes.</a:t>
            </a:r>
          </a:p>
        </p:txBody>
      </p:sp>
      <p:sp>
        <p:nvSpPr>
          <p:cNvPr id="9" name="Rectángulo 8">
            <a:extLst>
              <a:ext uri="{FF2B5EF4-FFF2-40B4-BE49-F238E27FC236}">
                <a16:creationId xmlns:a16="http://schemas.microsoft.com/office/drawing/2014/main" id="{92E0568E-24ED-CCAC-87EA-8B41CF5E904B}"/>
              </a:ext>
            </a:extLst>
          </p:cNvPr>
          <p:cNvSpPr/>
          <p:nvPr/>
        </p:nvSpPr>
        <p:spPr>
          <a:xfrm>
            <a:off x="412597" y="1422140"/>
            <a:ext cx="6077413" cy="273762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dirty="0"/>
          </a:p>
        </p:txBody>
      </p:sp>
      <mc:AlternateContent xmlns:mc="http://schemas.openxmlformats.org/markup-compatibility/2006">
        <mc:Choice xmlns:p14="http://schemas.microsoft.com/office/powerpoint/2010/main" Requires="p14">
          <p:contentPart p14:bwMode="auto" r:id="rId2">
            <p14:nvContentPartPr>
              <p14:cNvPr id="76" name="Entrada de lápiz 75">
                <a:extLst>
                  <a:ext uri="{FF2B5EF4-FFF2-40B4-BE49-F238E27FC236}">
                    <a16:creationId xmlns:a16="http://schemas.microsoft.com/office/drawing/2014/main" id="{B6E123D9-E261-3510-BDF6-ADEBA8DA0503}"/>
                  </a:ext>
                </a:extLst>
              </p14:cNvPr>
              <p14:cNvContentPartPr/>
              <p14:nvPr/>
            </p14:nvContentPartPr>
            <p14:xfrm>
              <a:off x="-2692827" y="8449547"/>
              <a:ext cx="1800" cy="360"/>
            </p14:xfrm>
          </p:contentPart>
        </mc:Choice>
        <mc:Fallback>
          <p:pic>
            <p:nvPicPr>
              <p:cNvPr id="76" name="Entrada de lápiz 75">
                <a:extLst>
                  <a:ext uri="{FF2B5EF4-FFF2-40B4-BE49-F238E27FC236}">
                    <a16:creationId xmlns:a16="http://schemas.microsoft.com/office/drawing/2014/main" id="{B6E123D9-E261-3510-BDF6-ADEBA8DA0503}"/>
                  </a:ext>
                </a:extLst>
              </p:cNvPr>
              <p:cNvPicPr/>
              <p:nvPr/>
            </p:nvPicPr>
            <p:blipFill>
              <a:blip r:embed="rId3"/>
              <a:stretch>
                <a:fillRect/>
              </a:stretch>
            </p:blipFill>
            <p:spPr>
              <a:xfrm>
                <a:off x="-2698947" y="8443427"/>
                <a:ext cx="14040" cy="12600"/>
              </a:xfrm>
              <a:prstGeom prst="rect">
                <a:avLst/>
              </a:prstGeom>
            </p:spPr>
          </p:pic>
        </mc:Fallback>
      </mc:AlternateContent>
      <p:cxnSp>
        <p:nvCxnSpPr>
          <p:cNvPr id="91" name="Conector recto de flecha 90">
            <a:extLst>
              <a:ext uri="{FF2B5EF4-FFF2-40B4-BE49-F238E27FC236}">
                <a16:creationId xmlns:a16="http://schemas.microsoft.com/office/drawing/2014/main" id="{77DC5D0A-77C4-EDD7-9AE3-9FDEDC256A23}"/>
              </a:ext>
            </a:extLst>
          </p:cNvPr>
          <p:cNvCxnSpPr>
            <a:cxnSpLocks/>
          </p:cNvCxnSpPr>
          <p:nvPr/>
        </p:nvCxnSpPr>
        <p:spPr>
          <a:xfrm flipV="1">
            <a:off x="848731" y="1685195"/>
            <a:ext cx="0" cy="22418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2" name="Conector recto de flecha 91">
            <a:extLst>
              <a:ext uri="{FF2B5EF4-FFF2-40B4-BE49-F238E27FC236}">
                <a16:creationId xmlns:a16="http://schemas.microsoft.com/office/drawing/2014/main" id="{63BB8B9E-E673-EFAA-01F9-F6E0FF7631B2}"/>
              </a:ext>
            </a:extLst>
          </p:cNvPr>
          <p:cNvCxnSpPr>
            <a:cxnSpLocks/>
          </p:cNvCxnSpPr>
          <p:nvPr/>
        </p:nvCxnSpPr>
        <p:spPr>
          <a:xfrm>
            <a:off x="660435" y="3740861"/>
            <a:ext cx="54937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3" name="Rectángulo 92">
            <a:extLst>
              <a:ext uri="{FF2B5EF4-FFF2-40B4-BE49-F238E27FC236}">
                <a16:creationId xmlns:a16="http://schemas.microsoft.com/office/drawing/2014/main" id="{32744E29-DB68-E7E8-5F8E-2B7F237A7E58}"/>
              </a:ext>
            </a:extLst>
          </p:cNvPr>
          <p:cNvSpPr/>
          <p:nvPr/>
        </p:nvSpPr>
        <p:spPr>
          <a:xfrm>
            <a:off x="1845624" y="3840977"/>
            <a:ext cx="3246500" cy="3912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Id estudiantes del 1 al 300</a:t>
            </a:r>
          </a:p>
        </p:txBody>
      </p:sp>
      <p:sp>
        <p:nvSpPr>
          <p:cNvPr id="94" name="Rectángulo 93">
            <a:extLst>
              <a:ext uri="{FF2B5EF4-FFF2-40B4-BE49-F238E27FC236}">
                <a16:creationId xmlns:a16="http://schemas.microsoft.com/office/drawing/2014/main" id="{D3D7BAEA-7B60-E4A7-506C-1BCACCF9404D}"/>
              </a:ext>
            </a:extLst>
          </p:cNvPr>
          <p:cNvSpPr/>
          <p:nvPr/>
        </p:nvSpPr>
        <p:spPr>
          <a:xfrm rot="16200000">
            <a:off x="-355061" y="2488382"/>
            <a:ext cx="1711377" cy="4799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dirty="0"/>
              <a:t>Conteo videos vistos</a:t>
            </a:r>
          </a:p>
        </p:txBody>
      </p:sp>
      <p:sp>
        <p:nvSpPr>
          <p:cNvPr id="95" name="Elipse 94">
            <a:extLst>
              <a:ext uri="{FF2B5EF4-FFF2-40B4-BE49-F238E27FC236}">
                <a16:creationId xmlns:a16="http://schemas.microsoft.com/office/drawing/2014/main" id="{2C2845DF-6455-0ED3-31E3-6C197A3A39AB}"/>
              </a:ext>
            </a:extLst>
          </p:cNvPr>
          <p:cNvSpPr/>
          <p:nvPr/>
        </p:nvSpPr>
        <p:spPr>
          <a:xfrm>
            <a:off x="944551" y="3530919"/>
            <a:ext cx="102119" cy="1021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06" name="Elipse 105">
            <a:extLst>
              <a:ext uri="{FF2B5EF4-FFF2-40B4-BE49-F238E27FC236}">
                <a16:creationId xmlns:a16="http://schemas.microsoft.com/office/drawing/2014/main" id="{3FAF9A81-DF7E-30EC-66D3-04B71B0AD0D0}"/>
              </a:ext>
            </a:extLst>
          </p:cNvPr>
          <p:cNvSpPr/>
          <p:nvPr/>
        </p:nvSpPr>
        <p:spPr>
          <a:xfrm>
            <a:off x="1171811" y="2508278"/>
            <a:ext cx="102119" cy="102119"/>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07" name="Rectángulo 106">
            <a:extLst>
              <a:ext uri="{FF2B5EF4-FFF2-40B4-BE49-F238E27FC236}">
                <a16:creationId xmlns:a16="http://schemas.microsoft.com/office/drawing/2014/main" id="{D8CF3B38-9387-4A6A-7B14-C66CAE5D377C}"/>
              </a:ext>
            </a:extLst>
          </p:cNvPr>
          <p:cNvSpPr/>
          <p:nvPr/>
        </p:nvSpPr>
        <p:spPr>
          <a:xfrm>
            <a:off x="4982674" y="1532209"/>
            <a:ext cx="218900" cy="2189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08" name="Rectángulo 107">
            <a:extLst>
              <a:ext uri="{FF2B5EF4-FFF2-40B4-BE49-F238E27FC236}">
                <a16:creationId xmlns:a16="http://schemas.microsoft.com/office/drawing/2014/main" id="{A361D696-B729-3E3C-4BDE-817232859F5C}"/>
              </a:ext>
            </a:extLst>
          </p:cNvPr>
          <p:cNvSpPr/>
          <p:nvPr/>
        </p:nvSpPr>
        <p:spPr>
          <a:xfrm>
            <a:off x="4982674" y="1867696"/>
            <a:ext cx="218900" cy="2189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09" name="Rectángulo 108">
            <a:extLst>
              <a:ext uri="{FF2B5EF4-FFF2-40B4-BE49-F238E27FC236}">
                <a16:creationId xmlns:a16="http://schemas.microsoft.com/office/drawing/2014/main" id="{35850503-9A5D-8DF5-1390-39AB133F8938}"/>
              </a:ext>
            </a:extLst>
          </p:cNvPr>
          <p:cNvSpPr/>
          <p:nvPr/>
        </p:nvSpPr>
        <p:spPr>
          <a:xfrm>
            <a:off x="5200591" y="1532209"/>
            <a:ext cx="1177208" cy="2189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s-EC" dirty="0"/>
              <a:t>aprobado</a:t>
            </a:r>
          </a:p>
        </p:txBody>
      </p:sp>
      <p:sp>
        <p:nvSpPr>
          <p:cNvPr id="110" name="Rectángulo 109">
            <a:extLst>
              <a:ext uri="{FF2B5EF4-FFF2-40B4-BE49-F238E27FC236}">
                <a16:creationId xmlns:a16="http://schemas.microsoft.com/office/drawing/2014/main" id="{00D31173-181D-2966-8AD9-22DC190229AC}"/>
              </a:ext>
            </a:extLst>
          </p:cNvPr>
          <p:cNvSpPr/>
          <p:nvPr/>
        </p:nvSpPr>
        <p:spPr>
          <a:xfrm>
            <a:off x="5168441" y="1882315"/>
            <a:ext cx="1255078" cy="2189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s-EC" dirty="0"/>
              <a:t>reprobado</a:t>
            </a:r>
          </a:p>
        </p:txBody>
      </p:sp>
      <p:sp>
        <p:nvSpPr>
          <p:cNvPr id="111" name="Elipse 110">
            <a:extLst>
              <a:ext uri="{FF2B5EF4-FFF2-40B4-BE49-F238E27FC236}">
                <a16:creationId xmlns:a16="http://schemas.microsoft.com/office/drawing/2014/main" id="{81331C5A-DB02-95CD-1650-15DAD74EBDC7}"/>
              </a:ext>
            </a:extLst>
          </p:cNvPr>
          <p:cNvSpPr/>
          <p:nvPr/>
        </p:nvSpPr>
        <p:spPr>
          <a:xfrm>
            <a:off x="1271507" y="3270898"/>
            <a:ext cx="102119" cy="1021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12" name="Elipse 111">
            <a:extLst>
              <a:ext uri="{FF2B5EF4-FFF2-40B4-BE49-F238E27FC236}">
                <a16:creationId xmlns:a16="http://schemas.microsoft.com/office/drawing/2014/main" id="{CCE46A22-A08B-932B-F981-3DCAEDCF0019}"/>
              </a:ext>
            </a:extLst>
          </p:cNvPr>
          <p:cNvSpPr/>
          <p:nvPr/>
        </p:nvSpPr>
        <p:spPr>
          <a:xfrm>
            <a:off x="1498767" y="2248257"/>
            <a:ext cx="102119" cy="102119"/>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13" name="Elipse 112">
            <a:extLst>
              <a:ext uri="{FF2B5EF4-FFF2-40B4-BE49-F238E27FC236}">
                <a16:creationId xmlns:a16="http://schemas.microsoft.com/office/drawing/2014/main" id="{AC54F429-FA92-D9B3-E5CB-933E97202669}"/>
              </a:ext>
            </a:extLst>
          </p:cNvPr>
          <p:cNvSpPr/>
          <p:nvPr/>
        </p:nvSpPr>
        <p:spPr>
          <a:xfrm>
            <a:off x="1631118" y="3016588"/>
            <a:ext cx="102119" cy="1021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14" name="Elipse 113">
            <a:extLst>
              <a:ext uri="{FF2B5EF4-FFF2-40B4-BE49-F238E27FC236}">
                <a16:creationId xmlns:a16="http://schemas.microsoft.com/office/drawing/2014/main" id="{DB8B858E-F801-A7B1-FD3C-6C83770EE631}"/>
              </a:ext>
            </a:extLst>
          </p:cNvPr>
          <p:cNvSpPr/>
          <p:nvPr/>
        </p:nvSpPr>
        <p:spPr>
          <a:xfrm>
            <a:off x="1858378" y="1993947"/>
            <a:ext cx="102119" cy="102119"/>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15" name="Elipse 114">
            <a:extLst>
              <a:ext uri="{FF2B5EF4-FFF2-40B4-BE49-F238E27FC236}">
                <a16:creationId xmlns:a16="http://schemas.microsoft.com/office/drawing/2014/main" id="{20974496-0ED9-2F16-7BB3-E8D9293B90E7}"/>
              </a:ext>
            </a:extLst>
          </p:cNvPr>
          <p:cNvSpPr/>
          <p:nvPr/>
        </p:nvSpPr>
        <p:spPr>
          <a:xfrm>
            <a:off x="2249010" y="3265421"/>
            <a:ext cx="102119" cy="1021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16" name="Elipse 115">
            <a:extLst>
              <a:ext uri="{FF2B5EF4-FFF2-40B4-BE49-F238E27FC236}">
                <a16:creationId xmlns:a16="http://schemas.microsoft.com/office/drawing/2014/main" id="{45012818-E11F-C0FB-0F4B-CC470C2DC134}"/>
              </a:ext>
            </a:extLst>
          </p:cNvPr>
          <p:cNvSpPr/>
          <p:nvPr/>
        </p:nvSpPr>
        <p:spPr>
          <a:xfrm>
            <a:off x="2476270" y="2242780"/>
            <a:ext cx="102119" cy="102119"/>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17" name="Elipse 116">
            <a:extLst>
              <a:ext uri="{FF2B5EF4-FFF2-40B4-BE49-F238E27FC236}">
                <a16:creationId xmlns:a16="http://schemas.microsoft.com/office/drawing/2014/main" id="{5706380F-224C-1C22-8C17-760D76EFD566}"/>
              </a:ext>
            </a:extLst>
          </p:cNvPr>
          <p:cNvSpPr/>
          <p:nvPr/>
        </p:nvSpPr>
        <p:spPr>
          <a:xfrm>
            <a:off x="2765511" y="3285815"/>
            <a:ext cx="102119" cy="1021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18" name="Elipse 117">
            <a:extLst>
              <a:ext uri="{FF2B5EF4-FFF2-40B4-BE49-F238E27FC236}">
                <a16:creationId xmlns:a16="http://schemas.microsoft.com/office/drawing/2014/main" id="{97F6F538-BECC-F93C-D8D2-8E862D835201}"/>
              </a:ext>
            </a:extLst>
          </p:cNvPr>
          <p:cNvSpPr/>
          <p:nvPr/>
        </p:nvSpPr>
        <p:spPr>
          <a:xfrm>
            <a:off x="2992771" y="2263174"/>
            <a:ext cx="102119" cy="102119"/>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19" name="Elipse 118">
            <a:extLst>
              <a:ext uri="{FF2B5EF4-FFF2-40B4-BE49-F238E27FC236}">
                <a16:creationId xmlns:a16="http://schemas.microsoft.com/office/drawing/2014/main" id="{0D13B8E5-CB47-4598-DDF1-882853229A6E}"/>
              </a:ext>
            </a:extLst>
          </p:cNvPr>
          <p:cNvSpPr/>
          <p:nvPr/>
        </p:nvSpPr>
        <p:spPr>
          <a:xfrm>
            <a:off x="3140115" y="3139312"/>
            <a:ext cx="102119" cy="1021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20" name="Elipse 119">
            <a:extLst>
              <a:ext uri="{FF2B5EF4-FFF2-40B4-BE49-F238E27FC236}">
                <a16:creationId xmlns:a16="http://schemas.microsoft.com/office/drawing/2014/main" id="{438063D1-FA5F-F40F-7DD9-2A022519CA05}"/>
              </a:ext>
            </a:extLst>
          </p:cNvPr>
          <p:cNvSpPr/>
          <p:nvPr/>
        </p:nvSpPr>
        <p:spPr>
          <a:xfrm>
            <a:off x="3367375" y="2116671"/>
            <a:ext cx="102119" cy="102119"/>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21" name="Elipse 120">
            <a:extLst>
              <a:ext uri="{FF2B5EF4-FFF2-40B4-BE49-F238E27FC236}">
                <a16:creationId xmlns:a16="http://schemas.microsoft.com/office/drawing/2014/main" id="{C27AB52E-CE2D-BD26-2D30-2ABB8700699E}"/>
              </a:ext>
            </a:extLst>
          </p:cNvPr>
          <p:cNvSpPr/>
          <p:nvPr/>
        </p:nvSpPr>
        <p:spPr>
          <a:xfrm>
            <a:off x="3461004" y="3190745"/>
            <a:ext cx="102119" cy="1021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22" name="Elipse 121">
            <a:extLst>
              <a:ext uri="{FF2B5EF4-FFF2-40B4-BE49-F238E27FC236}">
                <a16:creationId xmlns:a16="http://schemas.microsoft.com/office/drawing/2014/main" id="{3E4F8F43-5BBA-23FD-B9BD-529A7A6E3199}"/>
              </a:ext>
            </a:extLst>
          </p:cNvPr>
          <p:cNvSpPr/>
          <p:nvPr/>
        </p:nvSpPr>
        <p:spPr>
          <a:xfrm>
            <a:off x="3688264" y="2168104"/>
            <a:ext cx="102119" cy="102119"/>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23" name="Elipse 122">
            <a:extLst>
              <a:ext uri="{FF2B5EF4-FFF2-40B4-BE49-F238E27FC236}">
                <a16:creationId xmlns:a16="http://schemas.microsoft.com/office/drawing/2014/main" id="{34A6AFA1-AB46-E2CA-6713-34FBCC3A5B3C}"/>
              </a:ext>
            </a:extLst>
          </p:cNvPr>
          <p:cNvSpPr/>
          <p:nvPr/>
        </p:nvSpPr>
        <p:spPr>
          <a:xfrm>
            <a:off x="3850251" y="3413252"/>
            <a:ext cx="102119" cy="1021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24" name="Elipse 123">
            <a:extLst>
              <a:ext uri="{FF2B5EF4-FFF2-40B4-BE49-F238E27FC236}">
                <a16:creationId xmlns:a16="http://schemas.microsoft.com/office/drawing/2014/main" id="{6A72AAA0-5ADF-CB0B-81F2-47EFF64656D7}"/>
              </a:ext>
            </a:extLst>
          </p:cNvPr>
          <p:cNvSpPr/>
          <p:nvPr/>
        </p:nvSpPr>
        <p:spPr>
          <a:xfrm>
            <a:off x="4077511" y="2390611"/>
            <a:ext cx="102119" cy="102119"/>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25" name="Elipse 124">
            <a:extLst>
              <a:ext uri="{FF2B5EF4-FFF2-40B4-BE49-F238E27FC236}">
                <a16:creationId xmlns:a16="http://schemas.microsoft.com/office/drawing/2014/main" id="{729B6D3A-0CBA-AF4E-825C-E0D0FE6D423D}"/>
              </a:ext>
            </a:extLst>
          </p:cNvPr>
          <p:cNvSpPr/>
          <p:nvPr/>
        </p:nvSpPr>
        <p:spPr>
          <a:xfrm>
            <a:off x="3734713" y="3112590"/>
            <a:ext cx="102119" cy="1021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
        <p:nvSpPr>
          <p:cNvPr id="126" name="Elipse 125">
            <a:extLst>
              <a:ext uri="{FF2B5EF4-FFF2-40B4-BE49-F238E27FC236}">
                <a16:creationId xmlns:a16="http://schemas.microsoft.com/office/drawing/2014/main" id="{191EDCFE-9946-59B6-4F65-CA5BF0B4ED31}"/>
              </a:ext>
            </a:extLst>
          </p:cNvPr>
          <p:cNvSpPr/>
          <p:nvPr/>
        </p:nvSpPr>
        <p:spPr>
          <a:xfrm>
            <a:off x="3961973" y="2089949"/>
            <a:ext cx="102119" cy="102119"/>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C"/>
          </a:p>
        </p:txBody>
      </p:sp>
      <p:sp>
        <p:nvSpPr>
          <p:cNvPr id="127" name="Elipse 126">
            <a:extLst>
              <a:ext uri="{FF2B5EF4-FFF2-40B4-BE49-F238E27FC236}">
                <a16:creationId xmlns:a16="http://schemas.microsoft.com/office/drawing/2014/main" id="{E0C80DA1-6CC5-EB97-7BA0-5A623C2AC4D3}"/>
              </a:ext>
            </a:extLst>
          </p:cNvPr>
          <p:cNvSpPr/>
          <p:nvPr/>
        </p:nvSpPr>
        <p:spPr>
          <a:xfrm>
            <a:off x="1843533" y="2708918"/>
            <a:ext cx="102119" cy="1021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67847131"/>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83</TotalTime>
  <Words>504</Words>
  <Application>Microsoft Office PowerPoint</Application>
  <PresentationFormat>Panorámica</PresentationFormat>
  <Paragraphs>61</Paragraphs>
  <Slides>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vt:i4>
      </vt:variant>
    </vt:vector>
  </HeadingPairs>
  <TitlesOfParts>
    <vt:vector size="9" baseType="lpstr">
      <vt:lpstr>Aptos</vt:lpstr>
      <vt:lpstr>Aptos Display</vt:lpstr>
      <vt:lpstr>Arial</vt:lpstr>
      <vt:lpstr>Cambria Math</vt:lpstr>
      <vt:lpstr>Tema de Office</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nahomi cabrera</dc:creator>
  <cp:lastModifiedBy>nahomi cabrera</cp:lastModifiedBy>
  <cp:revision>1</cp:revision>
  <dcterms:created xsi:type="dcterms:W3CDTF">2025-03-29T23:21:09Z</dcterms:created>
  <dcterms:modified xsi:type="dcterms:W3CDTF">2025-03-30T00:45:01Z</dcterms:modified>
</cp:coreProperties>
</file>